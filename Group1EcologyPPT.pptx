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8288000" cy="10287000"/>
  <p:notesSz cx="6858000" cy="9144000"/>
  <p:embeddedFontLst>
    <p:embeddedFont>
      <p:font typeface="Georgia" charset="1" panose="02040502050405020303"/>
      <p:regular r:id="rId45"/>
    </p:embeddedFont>
    <p:embeddedFont>
      <p:font typeface="Georgia Bold" charset="1" panose="02040802050405020203"/>
      <p:regular r:id="rId46"/>
    </p:embeddedFont>
    <p:embeddedFont>
      <p:font typeface="Georgia Italics" charset="1" panose="02040502050405090303"/>
      <p:regular r:id="rId47"/>
    </p:embeddedFont>
    <p:embeddedFont>
      <p:font typeface="Calibri (MS)" charset="1" panose="020F0502020204030204"/>
      <p:regular r:id="rId48"/>
    </p:embeddedFont>
    <p:embeddedFont>
      <p:font typeface="Georgia Bold Italics" charset="1" panose="02040802050405090203"/>
      <p:regular r:id="rId49"/>
    </p:embeddedFont>
    <p:embeddedFont>
      <p:font typeface="Calibri (MS) Italics" charset="1" panose="020F05020202040A0204"/>
      <p:regular r:id="rId50"/>
    </p:embeddedFont>
    <p:embeddedFont>
      <p:font typeface="Calibri (MS) Bold" charset="1" panose="020F0702030404030204"/>
      <p:regular r:id="rId51"/>
    </p:embeddedFont>
    <p:embeddedFont>
      <p:font typeface="Calibri (MS) Bold Italics" charset="1" panose="020F07020304040A0204"/>
      <p:regular r:id="rId52"/>
    </p:embeddedFont>
    <p:embeddedFont>
      <p:font typeface="Alice Bold" charset="1" panose="00000500000000000000"/>
      <p:regular r:id="rId53"/>
    </p:embeddedFont>
    <p:embeddedFont>
      <p:font typeface="Alice Bold Italics" charset="1" panose="0000050000000000000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219963"/>
            <a:chOff x="0" y="0"/>
            <a:chExt cx="24417871" cy="29599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926080"/>
            </a:xfrm>
            <a:custGeom>
              <a:avLst/>
              <a:gdLst/>
              <a:ahLst/>
              <a:cxnLst/>
              <a:rect r="r" b="b" t="t" l="l"/>
              <a:pathLst>
                <a:path h="29260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59862"/>
            </a:xfrm>
            <a:custGeom>
              <a:avLst/>
              <a:gdLst/>
              <a:ahLst/>
              <a:cxnLst/>
              <a:rect r="r" b="b" t="t" l="l"/>
              <a:pathLst>
                <a:path h="29598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942971"/>
                  </a:lnTo>
                  <a:cubicBezTo>
                    <a:pt x="24417782" y="2952369"/>
                    <a:pt x="24410163" y="2959862"/>
                    <a:pt x="24400890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24400890" y="2926080"/>
                  </a:lnTo>
                  <a:lnTo>
                    <a:pt x="24400890" y="2942971"/>
                  </a:lnTo>
                  <a:lnTo>
                    <a:pt x="24384000" y="29429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2090423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8125463"/>
            <a:ext cx="18313403" cy="98555"/>
            <a:chOff x="0" y="0"/>
            <a:chExt cx="2441787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2697" y="8125463"/>
            <a:ext cx="18313403" cy="2183387"/>
            <a:chOff x="0" y="0"/>
            <a:chExt cx="24417871" cy="29111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399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7782" cy="2911094"/>
            </a:xfrm>
            <a:custGeom>
              <a:avLst/>
              <a:gdLst/>
              <a:ahLst/>
              <a:cxnLst/>
              <a:rect r="r" b="b" t="t" l="l"/>
              <a:pathLst>
                <a:path h="291109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94203"/>
                  </a:lnTo>
                  <a:cubicBezTo>
                    <a:pt x="24417782" y="2903601"/>
                    <a:pt x="24410163" y="2911094"/>
                    <a:pt x="24400890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4400890" y="2877312"/>
                  </a:lnTo>
                  <a:lnTo>
                    <a:pt x="24400890" y="2894203"/>
                  </a:lnTo>
                  <a:lnTo>
                    <a:pt x="24384000" y="28942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640080"/>
            <a:ext cx="18288000" cy="914400"/>
            <a:chOff x="0" y="0"/>
            <a:chExt cx="243840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43840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800">
                  <a:solidFill>
                    <a:srgbClr val="C4AA7A"/>
                  </a:solidFill>
                  <a:latin typeface="Georgia"/>
                  <a:ea typeface="Georgia"/>
                  <a:cs typeface="Georgia"/>
                  <a:sym typeface="Georgia"/>
                </a:rPr>
                <a:t>A BOARD GAME OF CITIES, CRISES &amp; ECOLOGY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560320"/>
            <a:ext cx="16459200" cy="2743200"/>
            <a:chOff x="0" y="0"/>
            <a:chExt cx="2194560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1945600" cy="36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80"/>
                </a:lnSpc>
              </a:pPr>
              <a:r>
                <a:rPr lang="en-US" sz="14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ECOPOLIS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5486400"/>
            <a:ext cx="14630400" cy="2011680"/>
            <a:chOff x="0" y="0"/>
            <a:chExt cx="1950720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07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507200" cy="2682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E8D9B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Build a thriving city, balance your resources, and protect the fragile ecosystem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8412480"/>
            <a:ext cx="18288000" cy="1005840"/>
            <a:chOff x="0" y="0"/>
            <a:chExt cx="2438400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43840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599">
                  <a:solidFill>
                    <a:srgbClr val="C4A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2–4 PLAYERS  ·  STRATEGY  ·  ECOLOGY  ·  CRISIS MANAGEMENT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8640" y="4389120"/>
            <a:ext cx="1463040" cy="1463040"/>
            <a:chOff x="0" y="0"/>
            <a:chExt cx="1950720" cy="1950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1950720" cy="2074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🌿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276320" y="4389120"/>
            <a:ext cx="1463040" cy="1463040"/>
            <a:chOff x="0" y="0"/>
            <a:chExt cx="1950720" cy="1950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1950720" cy="2074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🌿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468198" y="446408"/>
            <a:ext cx="1463040" cy="1463040"/>
            <a:chOff x="0" y="0"/>
            <a:chExt cx="1950720" cy="1950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14300"/>
              <a:ext cx="1950720" cy="2065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🌍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1028700"/>
            <a:ext cx="14630400" cy="2743200"/>
            <a:chOff x="0" y="0"/>
            <a:chExt cx="1950720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6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Welcome to Ecopolis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93716" y="3528550"/>
            <a:ext cx="15500568" cy="5464572"/>
            <a:chOff x="0" y="0"/>
            <a:chExt cx="20667424" cy="72860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667424" cy="7286096"/>
            </a:xfrm>
            <a:custGeom>
              <a:avLst/>
              <a:gdLst/>
              <a:ahLst/>
              <a:cxnLst/>
              <a:rect r="r" b="b" t="t" l="l"/>
              <a:pathLst>
                <a:path h="7286096" w="20667424">
                  <a:moveTo>
                    <a:pt x="0" y="0"/>
                  </a:moveTo>
                  <a:lnTo>
                    <a:pt x="20667424" y="0"/>
                  </a:lnTo>
                  <a:lnTo>
                    <a:pt x="20667424" y="7286096"/>
                  </a:lnTo>
                  <a:lnTo>
                    <a:pt x="0" y="7286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86" r="17412" b="392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667424" cy="7286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i="true">
                  <a:solidFill>
                    <a:srgbClr val="E8D9B5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Game Objective</a:t>
              </a:r>
            </a:p>
            <a:p>
              <a:pPr algn="ctr">
                <a:lnSpc>
                  <a:spcPts val="3840"/>
                </a:lnSpc>
              </a:pPr>
              <a:r>
                <a:rPr lang="en-US" b="true" sz="3200" i="true">
                  <a:solidFill>
                    <a:srgbClr val="E8D9B5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You are a city planner.</a:t>
              </a:r>
            </a:p>
            <a:p>
              <a:pPr algn="ctr">
                <a:lnSpc>
                  <a:spcPts val="3840"/>
                </a:lnSpc>
              </a:pPr>
              <a:r>
                <a:rPr lang="en-US" b="true" sz="3200" i="true">
                  <a:solidFill>
                    <a:srgbClr val="E8D9B5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Your goal is to build a thriving city while managing your resources and protecting the global environment.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  <a:r>
                <a:rPr lang="en-US" b="true" sz="3200" i="true">
                  <a:solidFill>
                    <a:srgbClr val="E8D9B5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Core Idea</a:t>
              </a:r>
            </a:p>
            <a:p>
              <a:pPr algn="ctr">
                <a:lnSpc>
                  <a:spcPts val="3840"/>
                </a:lnSpc>
              </a:pPr>
              <a:r>
                <a:rPr lang="en-US" b="true" sz="3200" i="true">
                  <a:solidFill>
                    <a:srgbClr val="E8D9B5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Every decision you make has benefits and consequences.</a:t>
              </a:r>
            </a:p>
            <a:p>
              <a:pPr algn="ctr">
                <a:lnSpc>
                  <a:spcPts val="3840"/>
                </a:lnSpc>
              </a:pPr>
              <a:r>
                <a:rPr lang="en-US" b="true" sz="3200" i="true">
                  <a:solidFill>
                    <a:srgbClr val="E8D9B5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Players must balance growth, capital, and environment.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5403" y="1437637"/>
            <a:ext cx="18313403" cy="116843"/>
            <a:chOff x="0" y="0"/>
            <a:chExt cx="24417871" cy="1557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55704"/>
            </a:xfrm>
            <a:custGeom>
              <a:avLst/>
              <a:gdLst/>
              <a:ahLst/>
              <a:cxnLst/>
              <a:rect r="r" b="b" t="t" l="l"/>
              <a:pathLst>
                <a:path h="1557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8811"/>
                  </a:lnTo>
                  <a:cubicBezTo>
                    <a:pt x="24417782" y="148209"/>
                    <a:pt x="24410163" y="155702"/>
                    <a:pt x="24400890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4400890" y="121920"/>
                  </a:lnTo>
                  <a:lnTo>
                    <a:pt x="24400890" y="138811"/>
                  </a:lnTo>
                  <a:lnTo>
                    <a:pt x="24384000" y="1388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5403" y="191767"/>
            <a:ext cx="18288000" cy="1188720"/>
            <a:chOff x="0" y="0"/>
            <a:chExt cx="2438400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FOUR PERSONAL POINTS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30503" y="9131303"/>
            <a:ext cx="12827003" cy="848363"/>
            <a:chOff x="0" y="0"/>
            <a:chExt cx="1710267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706879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799">
                  <a:moveTo>
                    <a:pt x="0" y="0"/>
                  </a:moveTo>
                  <a:lnTo>
                    <a:pt x="17068799" y="0"/>
                  </a:lnTo>
                  <a:lnTo>
                    <a:pt x="1706879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8B1A1A">
                <a:alpha val="1568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1025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7102582">
                  <a:moveTo>
                    <a:pt x="16891" y="0"/>
                  </a:moveTo>
                  <a:lnTo>
                    <a:pt x="17085690" y="0"/>
                  </a:lnTo>
                  <a:cubicBezTo>
                    <a:pt x="17095090" y="0"/>
                    <a:pt x="17102582" y="7620"/>
                    <a:pt x="17102582" y="16891"/>
                  </a:cubicBezTo>
                  <a:lnTo>
                    <a:pt x="17102582" y="1114171"/>
                  </a:lnTo>
                  <a:cubicBezTo>
                    <a:pt x="17102582" y="1123569"/>
                    <a:pt x="17094963" y="1131062"/>
                    <a:pt x="17085690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7085690" y="1097280"/>
                  </a:lnTo>
                  <a:lnTo>
                    <a:pt x="17085690" y="1114171"/>
                  </a:lnTo>
                  <a:lnTo>
                    <a:pt x="17068800" y="1114171"/>
                  </a:lnTo>
                  <a:lnTo>
                    <a:pt x="17068800" y="16891"/>
                  </a:lnTo>
                  <a:lnTo>
                    <a:pt x="17085690" y="16891"/>
                  </a:lnTo>
                  <a:lnTo>
                    <a:pt x="17085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51760" y="9085840"/>
            <a:ext cx="12801600" cy="822960"/>
            <a:chOff x="0" y="0"/>
            <a:chExt cx="170688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7068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b="true" sz="2599" i="true">
                  <a:solidFill>
                    <a:srgbClr val="FF7B7B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If your pollution points reach 100 , you lose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4226" y="2009265"/>
            <a:ext cx="3865883" cy="5942453"/>
            <a:chOff x="0" y="0"/>
            <a:chExt cx="5154511" cy="7923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5400"/>
              <a:ext cx="5120640" cy="7892389"/>
            </a:xfrm>
            <a:custGeom>
              <a:avLst/>
              <a:gdLst/>
              <a:ahLst/>
              <a:cxnLst/>
              <a:rect r="r" b="b" t="t" l="l"/>
              <a:pathLst>
                <a:path h="789238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92389"/>
                  </a:lnTo>
                  <a:lnTo>
                    <a:pt x="0" y="789238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4422" cy="7923189"/>
            </a:xfrm>
            <a:custGeom>
              <a:avLst/>
              <a:gdLst/>
              <a:ahLst/>
              <a:cxnLst/>
              <a:rect r="r" b="b" t="t" l="l"/>
              <a:pathLst>
                <a:path h="7923189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6948"/>
                    <a:pt x="5154422" y="15400"/>
                  </a:cubicBezTo>
                  <a:lnTo>
                    <a:pt x="5154422" y="7907789"/>
                  </a:lnTo>
                  <a:cubicBezTo>
                    <a:pt x="5154422" y="7916358"/>
                    <a:pt x="5146802" y="7923189"/>
                    <a:pt x="5137531" y="7923189"/>
                  </a:cubicBezTo>
                  <a:lnTo>
                    <a:pt x="16891" y="7923189"/>
                  </a:lnTo>
                  <a:cubicBezTo>
                    <a:pt x="7493" y="7923189"/>
                    <a:pt x="0" y="7916242"/>
                    <a:pt x="0" y="7907789"/>
                  </a:cubicBezTo>
                  <a:lnTo>
                    <a:pt x="0" y="15400"/>
                  </a:lnTo>
                  <a:cubicBezTo>
                    <a:pt x="0" y="6948"/>
                    <a:pt x="7620" y="0"/>
                    <a:pt x="16891" y="0"/>
                  </a:cubicBezTo>
                  <a:moveTo>
                    <a:pt x="16891" y="30916"/>
                  </a:moveTo>
                  <a:lnTo>
                    <a:pt x="16891" y="15400"/>
                  </a:lnTo>
                  <a:lnTo>
                    <a:pt x="33909" y="15400"/>
                  </a:lnTo>
                  <a:lnTo>
                    <a:pt x="33909" y="7907789"/>
                  </a:lnTo>
                  <a:lnTo>
                    <a:pt x="16891" y="7907789"/>
                  </a:lnTo>
                  <a:lnTo>
                    <a:pt x="16891" y="7892389"/>
                  </a:lnTo>
                  <a:lnTo>
                    <a:pt x="5137531" y="7892389"/>
                  </a:lnTo>
                  <a:lnTo>
                    <a:pt x="5137531" y="7907789"/>
                  </a:lnTo>
                  <a:lnTo>
                    <a:pt x="5120640" y="7907789"/>
                  </a:lnTo>
                  <a:lnTo>
                    <a:pt x="5120640" y="15400"/>
                  </a:lnTo>
                  <a:lnTo>
                    <a:pt x="5137531" y="15400"/>
                  </a:lnTo>
                  <a:lnTo>
                    <a:pt x="5137531" y="30916"/>
                  </a:lnTo>
                  <a:lnTo>
                    <a:pt x="16891" y="30916"/>
                  </a:lnTo>
                  <a:close/>
                </a:path>
              </a:pathLst>
            </a:custGeom>
            <a:solidFill>
              <a:srgbClr val="D4860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22633" y="1998464"/>
            <a:ext cx="3865883" cy="939803"/>
            <a:chOff x="0" y="0"/>
            <a:chExt cx="5154511" cy="12530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4860A">
                <a:alpha val="48627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860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56923" y="2753482"/>
            <a:ext cx="3840480" cy="1645920"/>
            <a:chOff x="0" y="0"/>
            <a:chExt cx="5120640" cy="2194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42875"/>
              <a:ext cx="5120640" cy="233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💰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6923" y="4454266"/>
            <a:ext cx="3840480" cy="822960"/>
            <a:chOff x="0" y="0"/>
            <a:chExt cx="512064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1206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D486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Capital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6923" y="5222362"/>
            <a:ext cx="3840480" cy="640080"/>
            <a:chOff x="0" y="0"/>
            <a:chExt cx="512064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Money &amp; Investment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9803" y="5862442"/>
            <a:ext cx="3474720" cy="2377440"/>
            <a:chOff x="0" y="0"/>
            <a:chExt cx="4632960" cy="3169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32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786" t="0" r="-37786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329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Spend to build assets and trigger positive choice events. Earn from markets and economic booms.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50466" y="2009265"/>
            <a:ext cx="3865883" cy="5942453"/>
            <a:chOff x="0" y="0"/>
            <a:chExt cx="5154511" cy="7923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5400"/>
              <a:ext cx="5120640" cy="7892389"/>
            </a:xfrm>
            <a:custGeom>
              <a:avLst/>
              <a:gdLst/>
              <a:ahLst/>
              <a:cxnLst/>
              <a:rect r="r" b="b" t="t" l="l"/>
              <a:pathLst>
                <a:path h="789238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92389"/>
                  </a:lnTo>
                  <a:lnTo>
                    <a:pt x="0" y="789238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54422" cy="7923189"/>
            </a:xfrm>
            <a:custGeom>
              <a:avLst/>
              <a:gdLst/>
              <a:ahLst/>
              <a:cxnLst/>
              <a:rect r="r" b="b" t="t" l="l"/>
              <a:pathLst>
                <a:path h="7923189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6948"/>
                    <a:pt x="5154422" y="15400"/>
                  </a:cubicBezTo>
                  <a:lnTo>
                    <a:pt x="5154422" y="7907789"/>
                  </a:lnTo>
                  <a:cubicBezTo>
                    <a:pt x="5154422" y="7916358"/>
                    <a:pt x="5146802" y="7923189"/>
                    <a:pt x="5137531" y="7923189"/>
                  </a:cubicBezTo>
                  <a:lnTo>
                    <a:pt x="16891" y="7923189"/>
                  </a:lnTo>
                  <a:cubicBezTo>
                    <a:pt x="7493" y="7923189"/>
                    <a:pt x="0" y="7916242"/>
                    <a:pt x="0" y="7907789"/>
                  </a:cubicBezTo>
                  <a:lnTo>
                    <a:pt x="0" y="15400"/>
                  </a:lnTo>
                  <a:cubicBezTo>
                    <a:pt x="0" y="6948"/>
                    <a:pt x="7620" y="0"/>
                    <a:pt x="16891" y="0"/>
                  </a:cubicBezTo>
                  <a:moveTo>
                    <a:pt x="16891" y="30916"/>
                  </a:moveTo>
                  <a:lnTo>
                    <a:pt x="16891" y="15400"/>
                  </a:lnTo>
                  <a:lnTo>
                    <a:pt x="33909" y="15400"/>
                  </a:lnTo>
                  <a:lnTo>
                    <a:pt x="33909" y="7907789"/>
                  </a:lnTo>
                  <a:lnTo>
                    <a:pt x="16891" y="7907789"/>
                  </a:lnTo>
                  <a:lnTo>
                    <a:pt x="16891" y="7892389"/>
                  </a:lnTo>
                  <a:lnTo>
                    <a:pt x="5137531" y="7892389"/>
                  </a:lnTo>
                  <a:lnTo>
                    <a:pt x="5137531" y="7907789"/>
                  </a:lnTo>
                  <a:lnTo>
                    <a:pt x="5120640" y="7907789"/>
                  </a:lnTo>
                  <a:lnTo>
                    <a:pt x="5120640" y="15400"/>
                  </a:lnTo>
                  <a:lnTo>
                    <a:pt x="5137531" y="15400"/>
                  </a:lnTo>
                  <a:lnTo>
                    <a:pt x="5137531" y="30916"/>
                  </a:lnTo>
                  <a:lnTo>
                    <a:pt x="16891" y="30916"/>
                  </a:lnTo>
                  <a:close/>
                </a:path>
              </a:pathLst>
            </a:custGeom>
            <a:solidFill>
              <a:srgbClr val="3D8A3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950466" y="2009265"/>
            <a:ext cx="3865883" cy="939803"/>
            <a:chOff x="0" y="0"/>
            <a:chExt cx="5154511" cy="12530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D8A3D">
                <a:alpha val="48627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8A3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963163" y="2938267"/>
            <a:ext cx="3840480" cy="1645920"/>
            <a:chOff x="0" y="0"/>
            <a:chExt cx="5120640" cy="2194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42875"/>
              <a:ext cx="5120640" cy="233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🏆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35226" y="4454266"/>
            <a:ext cx="3840480" cy="822960"/>
            <a:chOff x="0" y="0"/>
            <a:chExt cx="512064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1206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D8A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VICTORY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963163" y="5222362"/>
            <a:ext cx="3840480" cy="640080"/>
            <a:chOff x="0" y="0"/>
            <a:chExt cx="512064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essential for winning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294633" y="6149469"/>
            <a:ext cx="3474720" cy="2377440"/>
            <a:chOff x="0" y="0"/>
            <a:chExt cx="4632960" cy="31699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32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786" t="0" r="-37786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6329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 to collect this in order to win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56706" y="2009265"/>
            <a:ext cx="3865883" cy="5942453"/>
            <a:chOff x="0" y="0"/>
            <a:chExt cx="5154511" cy="79232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5400"/>
              <a:ext cx="5120640" cy="7892389"/>
            </a:xfrm>
            <a:custGeom>
              <a:avLst/>
              <a:gdLst/>
              <a:ahLst/>
              <a:cxnLst/>
              <a:rect r="r" b="b" t="t" l="l"/>
              <a:pathLst>
                <a:path h="789238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92389"/>
                  </a:lnTo>
                  <a:lnTo>
                    <a:pt x="0" y="789238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54422" cy="7923189"/>
            </a:xfrm>
            <a:custGeom>
              <a:avLst/>
              <a:gdLst/>
              <a:ahLst/>
              <a:cxnLst/>
              <a:rect r="r" b="b" t="t" l="l"/>
              <a:pathLst>
                <a:path h="7923189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6948"/>
                    <a:pt x="5154422" y="15400"/>
                  </a:cubicBezTo>
                  <a:lnTo>
                    <a:pt x="5154422" y="7907789"/>
                  </a:lnTo>
                  <a:cubicBezTo>
                    <a:pt x="5154422" y="7916358"/>
                    <a:pt x="5146802" y="7923189"/>
                    <a:pt x="5137531" y="7923189"/>
                  </a:cubicBezTo>
                  <a:lnTo>
                    <a:pt x="16891" y="7923189"/>
                  </a:lnTo>
                  <a:cubicBezTo>
                    <a:pt x="7493" y="7923189"/>
                    <a:pt x="0" y="7916242"/>
                    <a:pt x="0" y="7907789"/>
                  </a:cubicBezTo>
                  <a:lnTo>
                    <a:pt x="0" y="15400"/>
                  </a:lnTo>
                  <a:cubicBezTo>
                    <a:pt x="0" y="6948"/>
                    <a:pt x="7620" y="0"/>
                    <a:pt x="16891" y="0"/>
                  </a:cubicBezTo>
                  <a:moveTo>
                    <a:pt x="16891" y="30916"/>
                  </a:moveTo>
                  <a:lnTo>
                    <a:pt x="16891" y="15400"/>
                  </a:lnTo>
                  <a:lnTo>
                    <a:pt x="33909" y="15400"/>
                  </a:lnTo>
                  <a:lnTo>
                    <a:pt x="33909" y="7907789"/>
                  </a:lnTo>
                  <a:lnTo>
                    <a:pt x="16891" y="7907789"/>
                  </a:lnTo>
                  <a:lnTo>
                    <a:pt x="16891" y="7892389"/>
                  </a:lnTo>
                  <a:lnTo>
                    <a:pt x="5137531" y="7892389"/>
                  </a:lnTo>
                  <a:lnTo>
                    <a:pt x="5137531" y="7907789"/>
                  </a:lnTo>
                  <a:lnTo>
                    <a:pt x="5120640" y="7907789"/>
                  </a:lnTo>
                  <a:lnTo>
                    <a:pt x="5120640" y="15400"/>
                  </a:lnTo>
                  <a:lnTo>
                    <a:pt x="5137531" y="15400"/>
                  </a:lnTo>
                  <a:lnTo>
                    <a:pt x="5137531" y="30916"/>
                  </a:lnTo>
                  <a:lnTo>
                    <a:pt x="16891" y="30916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56706" y="2009265"/>
            <a:ext cx="3865883" cy="939803"/>
            <a:chOff x="0" y="0"/>
            <a:chExt cx="5154511" cy="12530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6B3D8A">
                <a:alpha val="48627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69403" y="2753482"/>
            <a:ext cx="3840480" cy="1645920"/>
            <a:chOff x="0" y="0"/>
            <a:chExt cx="5120640" cy="21945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42875"/>
              <a:ext cx="5120640" cy="233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😊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149725" y="4454266"/>
            <a:ext cx="3840480" cy="822960"/>
            <a:chOff x="0" y="0"/>
            <a:chExt cx="512064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1206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6B3D8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Well-being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69403" y="5222362"/>
            <a:ext cx="3840480" cy="640080"/>
            <a:chOff x="0" y="0"/>
            <a:chExt cx="512064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Public Happiness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52283" y="5862442"/>
            <a:ext cx="3474720" cy="2377440"/>
            <a:chOff x="0" y="0"/>
            <a:chExt cx="4632960" cy="31699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632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786" t="0" r="-37786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6329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happiness of your citizens. Built through culture, safety, and recreation facilities.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362946" y="2009265"/>
            <a:ext cx="3865883" cy="5942453"/>
            <a:chOff x="0" y="0"/>
            <a:chExt cx="5154511" cy="792327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5400"/>
              <a:ext cx="5120640" cy="7892389"/>
            </a:xfrm>
            <a:custGeom>
              <a:avLst/>
              <a:gdLst/>
              <a:ahLst/>
              <a:cxnLst/>
              <a:rect r="r" b="b" t="t" l="l"/>
              <a:pathLst>
                <a:path h="789238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92389"/>
                  </a:lnTo>
                  <a:lnTo>
                    <a:pt x="0" y="789238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54422" cy="7923189"/>
            </a:xfrm>
            <a:custGeom>
              <a:avLst/>
              <a:gdLst/>
              <a:ahLst/>
              <a:cxnLst/>
              <a:rect r="r" b="b" t="t" l="l"/>
              <a:pathLst>
                <a:path h="7923189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6948"/>
                    <a:pt x="5154422" y="15400"/>
                  </a:cubicBezTo>
                  <a:lnTo>
                    <a:pt x="5154422" y="7907789"/>
                  </a:lnTo>
                  <a:cubicBezTo>
                    <a:pt x="5154422" y="7916358"/>
                    <a:pt x="5146802" y="7923189"/>
                    <a:pt x="5137531" y="7923189"/>
                  </a:cubicBezTo>
                  <a:lnTo>
                    <a:pt x="16891" y="7923189"/>
                  </a:lnTo>
                  <a:cubicBezTo>
                    <a:pt x="7493" y="7923189"/>
                    <a:pt x="0" y="7916242"/>
                    <a:pt x="0" y="7907789"/>
                  </a:cubicBezTo>
                  <a:lnTo>
                    <a:pt x="0" y="15400"/>
                  </a:lnTo>
                  <a:cubicBezTo>
                    <a:pt x="0" y="6948"/>
                    <a:pt x="7620" y="0"/>
                    <a:pt x="16891" y="0"/>
                  </a:cubicBezTo>
                  <a:moveTo>
                    <a:pt x="16891" y="30916"/>
                  </a:moveTo>
                  <a:lnTo>
                    <a:pt x="16891" y="15400"/>
                  </a:lnTo>
                  <a:lnTo>
                    <a:pt x="33909" y="15400"/>
                  </a:lnTo>
                  <a:lnTo>
                    <a:pt x="33909" y="7907789"/>
                  </a:lnTo>
                  <a:lnTo>
                    <a:pt x="16891" y="7907789"/>
                  </a:lnTo>
                  <a:lnTo>
                    <a:pt x="16891" y="7892389"/>
                  </a:lnTo>
                  <a:lnTo>
                    <a:pt x="5137531" y="7892389"/>
                  </a:lnTo>
                  <a:lnTo>
                    <a:pt x="5137531" y="7907789"/>
                  </a:lnTo>
                  <a:lnTo>
                    <a:pt x="5120640" y="7907789"/>
                  </a:lnTo>
                  <a:lnTo>
                    <a:pt x="5120640" y="15400"/>
                  </a:lnTo>
                  <a:lnTo>
                    <a:pt x="5137531" y="15400"/>
                  </a:lnTo>
                  <a:lnTo>
                    <a:pt x="5137531" y="30916"/>
                  </a:lnTo>
                  <a:lnTo>
                    <a:pt x="16891" y="30916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362946" y="2009265"/>
            <a:ext cx="3865883" cy="939803"/>
            <a:chOff x="0" y="0"/>
            <a:chExt cx="5154511" cy="12530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70000"/>
                  </a:srgbClr>
                </a:gs>
                <a:gs pos="100000">
                  <a:srgbClr val="7ED957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375643" y="2730494"/>
            <a:ext cx="3840480" cy="1645920"/>
            <a:chOff x="0" y="0"/>
            <a:chExt cx="5120640" cy="21945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42875"/>
              <a:ext cx="5120640" cy="233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🏭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375648" y="4454266"/>
            <a:ext cx="3840480" cy="822960"/>
            <a:chOff x="0" y="0"/>
            <a:chExt cx="5120640" cy="1097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51206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A9D8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Pollution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375643" y="5222362"/>
            <a:ext cx="3840480" cy="640080"/>
            <a:chOff x="0" y="0"/>
            <a:chExt cx="512064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Affects Environmental Health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558523" y="5862442"/>
            <a:ext cx="3474720" cy="2377440"/>
            <a:chOff x="0" y="0"/>
            <a:chExt cx="4632960" cy="31699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632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786" t="0" r="-37786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6329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Detrimental to y</a:t>
              </a:r>
              <a:r>
                <a:rPr lang="en-US" sz="1700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our city's ecological footprint. Handle it effectively to attract investors and unlock green bonds.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391168" y="8166735"/>
            <a:ext cx="16850363" cy="720347"/>
            <a:chOff x="0" y="0"/>
            <a:chExt cx="22467151" cy="96046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2243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25000"/>
                  </a:srgbClr>
                </a:gs>
                <a:gs pos="100000">
                  <a:srgbClr val="7ED957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467063" cy="960376"/>
            </a:xfrm>
            <a:custGeom>
              <a:avLst/>
              <a:gdLst/>
              <a:ahLst/>
              <a:cxnLst/>
              <a:rect r="r" b="b" t="t" l="l"/>
              <a:pathLst>
                <a:path h="96037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943483"/>
                  </a:lnTo>
                  <a:cubicBezTo>
                    <a:pt x="22467063" y="952881"/>
                    <a:pt x="22459443" y="960374"/>
                    <a:pt x="22450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2450171" y="926592"/>
                  </a:lnTo>
                  <a:lnTo>
                    <a:pt x="22450171" y="943483"/>
                  </a:lnTo>
                  <a:lnTo>
                    <a:pt x="22433280" y="94348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722633" y="8192138"/>
            <a:ext cx="16824960" cy="694944"/>
            <a:chOff x="0" y="0"/>
            <a:chExt cx="2243328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43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743" r="0" b="-42174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224332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your capital or well-being points reaches zero ,you lose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346903"/>
            <a:ext cx="14630400" cy="2743200"/>
            <a:chOff x="0" y="0"/>
            <a:chExt cx="1950720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6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SETUP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2084760"/>
            <a:ext cx="15522691" cy="7893447"/>
            <a:chOff x="0" y="0"/>
            <a:chExt cx="20696921" cy="105245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696921" cy="10524596"/>
            </a:xfrm>
            <a:custGeom>
              <a:avLst/>
              <a:gdLst/>
              <a:ahLst/>
              <a:cxnLst/>
              <a:rect r="r" b="b" t="t" l="l"/>
              <a:pathLst>
                <a:path h="10524596" w="20696921">
                  <a:moveTo>
                    <a:pt x="0" y="0"/>
                  </a:moveTo>
                  <a:lnTo>
                    <a:pt x="20696921" y="0"/>
                  </a:lnTo>
                  <a:lnTo>
                    <a:pt x="20696921" y="10524596"/>
                  </a:lnTo>
                  <a:lnTo>
                    <a:pt x="0" y="105245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4" r="17529" b="579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696921" cy="105245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840"/>
                </a:lnSpc>
              </a:pP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Pl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ace the board in the middle.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Set the Global Eco track to 100.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Shuffle the Outer Loop and Inner Path event decks separately. Place them face down.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Shuffle the Building Cards and place them face down.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Place the Global Events Wheel within reach.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Each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player chooses a color and takes: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1 dashboard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1 tok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en (placed on Space 1 of the outer loop)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100 Capital, 100 Well-being, 0 Pollution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100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Land pieces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0 Victory Points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An empty Echo Inventory</a:t>
              </a: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346903"/>
            <a:ext cx="14630400" cy="2743200"/>
            <a:chOff x="0" y="0"/>
            <a:chExt cx="1950720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6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COMPONENTS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29451" y="2516873"/>
            <a:ext cx="11629097" cy="6921897"/>
            <a:chOff x="0" y="0"/>
            <a:chExt cx="15505463" cy="92291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05463" cy="9229196"/>
            </a:xfrm>
            <a:custGeom>
              <a:avLst/>
              <a:gdLst/>
              <a:ahLst/>
              <a:cxnLst/>
              <a:rect r="r" b="b" t="t" l="l"/>
              <a:pathLst>
                <a:path h="9229196" w="15505463">
                  <a:moveTo>
                    <a:pt x="0" y="0"/>
                  </a:moveTo>
                  <a:lnTo>
                    <a:pt x="15505463" y="0"/>
                  </a:lnTo>
                  <a:lnTo>
                    <a:pt x="15505463" y="9229196"/>
                  </a:lnTo>
                  <a:lnTo>
                    <a:pt x="0" y="92291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47" r="-10082" b="520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505463" cy="9229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840"/>
                </a:lnSpc>
              </a:pP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Game board with outer loop (80 spaces) and inner paths (diagonals, vertical, horizontal) leading to a center circle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4 player tokens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2 six-sided dice (identical)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Global Events Wheel with spinner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14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0 Building Cards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4 player dashboards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Resource tokens: Capital, Well-being, Pollution, Global Eco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Land pieces (100 per player)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Echo Inventory track on each dashboard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Victory Point tokens</a:t>
              </a: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426203" cy="10312403"/>
            <a:chOff x="0" y="0"/>
            <a:chExt cx="85682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85344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681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3732890"/>
                  </a:lnTo>
                  <a:cubicBezTo>
                    <a:pt x="8568182" y="13742290"/>
                    <a:pt x="8560562" y="13749782"/>
                    <a:pt x="85512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8551291" y="13716000"/>
                  </a:lnTo>
                  <a:lnTo>
                    <a:pt x="8551291" y="13732890"/>
                  </a:lnTo>
                  <a:lnTo>
                    <a:pt x="8534400" y="13732890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314951" y="-12697"/>
            <a:ext cx="135131" cy="10312403"/>
            <a:chOff x="0" y="0"/>
            <a:chExt cx="180175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2194560"/>
            <a:ext cx="5669280" cy="3291840"/>
            <a:chOff x="0" y="0"/>
            <a:chExt cx="7559040" cy="4389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5904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498" t="0" r="-2449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7559040" cy="439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59"/>
                </a:lnSpc>
              </a:pPr>
              <a:r>
                <a:rPr lang="en-US" sz="87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Victory</a:t>
              </a:r>
            </a:p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Points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5143505"/>
            <a:ext cx="5669280" cy="3817615"/>
            <a:chOff x="0" y="0"/>
            <a:chExt cx="7559040" cy="50901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59040" cy="5090154"/>
            </a:xfrm>
            <a:custGeom>
              <a:avLst/>
              <a:gdLst/>
              <a:ahLst/>
              <a:cxnLst/>
              <a:rect r="r" b="b" t="t" l="l"/>
              <a:pathLst>
                <a:path h="509015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090154"/>
                  </a:lnTo>
                  <a:lnTo>
                    <a:pt x="0" y="5090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498" t="0" r="-24498" b="1377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7559040" cy="50996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E8D9B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Th</a:t>
              </a:r>
              <a:r>
                <a:rPr lang="en-US" sz="2799" i="true">
                  <a:solidFill>
                    <a:srgbClr val="E8D9B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e first player to reach 30 Victory Points wins immediately.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94560" y="640080"/>
            <a:ext cx="2011680" cy="1828800"/>
            <a:chOff x="0" y="0"/>
            <a:chExt cx="2682240" cy="243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61925"/>
              <a:ext cx="2682240" cy="2600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26307" y="1803397"/>
            <a:ext cx="5328923" cy="2860043"/>
            <a:chOff x="0" y="0"/>
            <a:chExt cx="7105231" cy="3813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0713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051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796411"/>
                  </a:lnTo>
                  <a:cubicBezTo>
                    <a:pt x="7105142" y="3805809"/>
                    <a:pt x="7097522" y="3813302"/>
                    <a:pt x="70882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7088251" y="3779520"/>
                  </a:lnTo>
                  <a:lnTo>
                    <a:pt x="7088251" y="3796411"/>
                  </a:lnTo>
                  <a:lnTo>
                    <a:pt x="7071360" y="379641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589525" y="2377440"/>
            <a:ext cx="3657600" cy="731520"/>
            <a:chOff x="0" y="0"/>
            <a:chExt cx="487680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8768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36218" y="2377440"/>
            <a:ext cx="3764214" cy="1991418"/>
            <a:chOff x="0" y="0"/>
            <a:chExt cx="5018952" cy="26552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18952" cy="2655225"/>
            </a:xfrm>
            <a:custGeom>
              <a:avLst/>
              <a:gdLst/>
              <a:ahLst/>
              <a:cxnLst/>
              <a:rect r="r" b="b" t="t" l="l"/>
              <a:pathLst>
                <a:path h="2655225" w="5018952">
                  <a:moveTo>
                    <a:pt x="0" y="0"/>
                  </a:moveTo>
                  <a:lnTo>
                    <a:pt x="5018952" y="0"/>
                  </a:lnTo>
                  <a:lnTo>
                    <a:pt x="5018952" y="2655225"/>
                  </a:lnTo>
                  <a:lnTo>
                    <a:pt x="0" y="26552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02" t="0" r="-5899" b="1734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5018952" cy="2721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Building cards (each card shows its Victory Point value, usually 1 to 2)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69556" y="1803397"/>
            <a:ext cx="5328923" cy="2860043"/>
            <a:chOff x="0" y="0"/>
            <a:chExt cx="7105231" cy="38133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0713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051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796411"/>
                  </a:lnTo>
                  <a:cubicBezTo>
                    <a:pt x="7105142" y="3805809"/>
                    <a:pt x="7097522" y="3813302"/>
                    <a:pt x="70882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7088251" y="3779520"/>
                  </a:lnTo>
                  <a:lnTo>
                    <a:pt x="7088251" y="3796411"/>
                  </a:lnTo>
                  <a:lnTo>
                    <a:pt x="7071360" y="379641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753863" y="5622291"/>
            <a:ext cx="5328923" cy="2860043"/>
            <a:chOff x="0" y="0"/>
            <a:chExt cx="7105231" cy="38133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0713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051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796411"/>
                  </a:lnTo>
                  <a:cubicBezTo>
                    <a:pt x="7105142" y="3805809"/>
                    <a:pt x="7097522" y="3813302"/>
                    <a:pt x="70882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7088251" y="3779520"/>
                  </a:lnTo>
                  <a:lnTo>
                    <a:pt x="7088251" y="3796411"/>
                  </a:lnTo>
                  <a:lnTo>
                    <a:pt x="7071360" y="379641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425686" y="5622291"/>
            <a:ext cx="5328923" cy="2860043"/>
            <a:chOff x="0" y="0"/>
            <a:chExt cx="7105231" cy="38133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0713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051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796411"/>
                  </a:lnTo>
                  <a:cubicBezTo>
                    <a:pt x="7105142" y="3805809"/>
                    <a:pt x="7097522" y="3813302"/>
                    <a:pt x="70882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7088251" y="3779520"/>
                  </a:lnTo>
                  <a:lnTo>
                    <a:pt x="7088251" y="3796411"/>
                  </a:lnTo>
                  <a:lnTo>
                    <a:pt x="7071360" y="379641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054356" y="-459105"/>
            <a:ext cx="14630400" cy="2743200"/>
            <a:chOff x="0" y="0"/>
            <a:chExt cx="19507200" cy="3657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50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9507200" cy="366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Victory Points are earned from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141081" y="2237709"/>
            <a:ext cx="3764214" cy="1991418"/>
            <a:chOff x="0" y="0"/>
            <a:chExt cx="5018952" cy="26552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18952" cy="2655225"/>
            </a:xfrm>
            <a:custGeom>
              <a:avLst/>
              <a:gdLst/>
              <a:ahLst/>
              <a:cxnLst/>
              <a:rect r="r" b="b" t="t" l="l"/>
              <a:pathLst>
                <a:path h="2655225" w="5018952">
                  <a:moveTo>
                    <a:pt x="0" y="0"/>
                  </a:moveTo>
                  <a:lnTo>
                    <a:pt x="5018952" y="0"/>
                  </a:lnTo>
                  <a:lnTo>
                    <a:pt x="5018952" y="2655225"/>
                  </a:lnTo>
                  <a:lnTo>
                    <a:pt x="0" y="26552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02" t="0" r="-5899" b="1734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5018952" cy="2721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Completing a set of three cards in the same category on your dashboard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89525" y="6056603"/>
            <a:ext cx="3764214" cy="1991418"/>
            <a:chOff x="0" y="0"/>
            <a:chExt cx="5018952" cy="26552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18952" cy="2655225"/>
            </a:xfrm>
            <a:custGeom>
              <a:avLst/>
              <a:gdLst/>
              <a:ahLst/>
              <a:cxnLst/>
              <a:rect r="r" b="b" t="t" l="l"/>
              <a:pathLst>
                <a:path h="2655225" w="5018952">
                  <a:moveTo>
                    <a:pt x="0" y="0"/>
                  </a:moveTo>
                  <a:lnTo>
                    <a:pt x="5018952" y="0"/>
                  </a:lnTo>
                  <a:lnTo>
                    <a:pt x="5018952" y="2655225"/>
                  </a:lnTo>
                  <a:lnTo>
                    <a:pt x="0" y="26552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02" t="0" r="-5899" b="1734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5018952" cy="2721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Reaching the center circle every second time 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51910" y="6056603"/>
            <a:ext cx="3764214" cy="1991418"/>
            <a:chOff x="0" y="0"/>
            <a:chExt cx="5018952" cy="26552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18952" cy="2655225"/>
            </a:xfrm>
            <a:custGeom>
              <a:avLst/>
              <a:gdLst/>
              <a:ahLst/>
              <a:cxnLst/>
              <a:rect r="r" b="b" t="t" l="l"/>
              <a:pathLst>
                <a:path h="2655225" w="5018952">
                  <a:moveTo>
                    <a:pt x="0" y="0"/>
                  </a:moveTo>
                  <a:lnTo>
                    <a:pt x="5018952" y="0"/>
                  </a:lnTo>
                  <a:lnTo>
                    <a:pt x="5018952" y="2655225"/>
                  </a:lnTo>
                  <a:lnTo>
                    <a:pt x="0" y="26552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02" t="0" r="-5899" b="1734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5018952" cy="2721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Reaching the center circle every second time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634498"/>
            <a:ext cx="14630400" cy="2870448"/>
            <a:chOff x="0" y="0"/>
            <a:chExt cx="19507200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827264"/>
            </a:xfrm>
            <a:custGeom>
              <a:avLst/>
              <a:gdLst/>
              <a:ahLst/>
              <a:cxnLst/>
              <a:rect r="r" b="b" t="t" l="l"/>
              <a:pathLst>
                <a:path h="3827264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0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Turn Structure</a:t>
              </a:r>
            </a:p>
            <a:p>
              <a:pPr algn="ctr">
                <a:lnSpc>
                  <a:spcPts val="10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29456" y="1454984"/>
            <a:ext cx="11629097" cy="4493022"/>
            <a:chOff x="0" y="0"/>
            <a:chExt cx="15505463" cy="59906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05463" cy="5990696"/>
            </a:xfrm>
            <a:custGeom>
              <a:avLst/>
              <a:gdLst/>
              <a:ahLst/>
              <a:cxnLst/>
              <a:rect r="r" b="b" t="t" l="l"/>
              <a:pathLst>
                <a:path h="5990696" w="15505463">
                  <a:moveTo>
                    <a:pt x="0" y="0"/>
                  </a:moveTo>
                  <a:lnTo>
                    <a:pt x="15505463" y="0"/>
                  </a:lnTo>
                  <a:lnTo>
                    <a:pt x="15505463" y="5990696"/>
                  </a:lnTo>
                  <a:lnTo>
                    <a:pt x="0" y="59906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00" r="-10082" b="2616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505463" cy="59906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Phase 1: Roll the Dice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At the beginning of your turn, roll both dice.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Add them together to get the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Total Roll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329456" y="4336653"/>
            <a:ext cx="11629097" cy="5950347"/>
            <a:chOff x="0" y="0"/>
            <a:chExt cx="15505463" cy="79337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05463" cy="7933796"/>
            </a:xfrm>
            <a:custGeom>
              <a:avLst/>
              <a:gdLst/>
              <a:ahLst/>
              <a:cxnLst/>
              <a:rect r="r" b="b" t="t" l="l"/>
              <a:pathLst>
                <a:path h="7933796" w="15505463">
                  <a:moveTo>
                    <a:pt x="0" y="0"/>
                  </a:moveTo>
                  <a:lnTo>
                    <a:pt x="15505463" y="0"/>
                  </a:lnTo>
                  <a:lnTo>
                    <a:pt x="15505463" y="7933796"/>
                  </a:lnTo>
                  <a:lnTo>
                    <a:pt x="0" y="79337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089" r="-10082" b="4424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5505463" cy="7933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Phase 2: Echo Release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Before moving, reso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l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ve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the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c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ho R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lease first: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The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Total Roll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from both dice is your Release Amount.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Move that many Pollution tokens from your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Echo Inventory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to your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Personal Pollution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track.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If your Echo Inventory has fewer tokens than the Total Roll, move all of them.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Special Rule: Clean Roll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If you roll a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double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(both dice show the same number), i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is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C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l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ean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Roll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634498"/>
            <a:ext cx="14630400" cy="2870448"/>
            <a:chOff x="0" y="0"/>
            <a:chExt cx="19507200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827264"/>
            </a:xfrm>
            <a:custGeom>
              <a:avLst/>
              <a:gdLst/>
              <a:ahLst/>
              <a:cxnLst/>
              <a:rect r="r" b="b" t="t" l="l"/>
              <a:pathLst>
                <a:path h="3827264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0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Turn Structure</a:t>
              </a:r>
            </a:p>
            <a:p>
              <a:pPr algn="ctr">
                <a:lnSpc>
                  <a:spcPts val="10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29451" y="2253983"/>
            <a:ext cx="11629097" cy="7407672"/>
            <a:chOff x="0" y="0"/>
            <a:chExt cx="15505463" cy="98768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05463" cy="9876896"/>
            </a:xfrm>
            <a:custGeom>
              <a:avLst/>
              <a:gdLst/>
              <a:ahLst/>
              <a:cxnLst/>
              <a:rect r="r" b="b" t="t" l="l"/>
              <a:pathLst>
                <a:path h="9876896" w="15505463">
                  <a:moveTo>
                    <a:pt x="0" y="0"/>
                  </a:moveTo>
                  <a:lnTo>
                    <a:pt x="15505463" y="0"/>
                  </a:lnTo>
                  <a:lnTo>
                    <a:pt x="15505463" y="9876896"/>
                  </a:lnTo>
                  <a:lnTo>
                    <a:pt x="0" y="9876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63" r="-10082" b="5521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505463" cy="9876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Phase 3: Movement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Now use the same Total Roll to move: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Move your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token forward along the outer loop by the Total Roll.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If you pass or land on Space 1 (Start), collect 2 Capital.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If you land on an intersection, you may either stay on the outer loop or turn onto the inner path.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On inner paths, you move along that line in either direction. At another intersection, you may switch to a different inner path.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To reach the center, you must land exactly on it. If you overshoot, you stop at the last space before it and cannot enter that turn.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634498"/>
            <a:ext cx="14630400" cy="2870448"/>
            <a:chOff x="0" y="0"/>
            <a:chExt cx="19507200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827264"/>
            </a:xfrm>
            <a:custGeom>
              <a:avLst/>
              <a:gdLst/>
              <a:ahLst/>
              <a:cxnLst/>
              <a:rect r="r" b="b" t="t" l="l"/>
              <a:pathLst>
                <a:path h="3827264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0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Turn Structure</a:t>
              </a:r>
            </a:p>
            <a:p>
              <a:pPr algn="ctr">
                <a:lnSpc>
                  <a:spcPts val="10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29456" y="3160089"/>
            <a:ext cx="11629097" cy="6921897"/>
            <a:chOff x="0" y="0"/>
            <a:chExt cx="15505463" cy="92291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05463" cy="9229196"/>
            </a:xfrm>
            <a:custGeom>
              <a:avLst/>
              <a:gdLst/>
              <a:ahLst/>
              <a:cxnLst/>
              <a:rect r="r" b="b" t="t" l="l"/>
              <a:pathLst>
                <a:path h="9229196" w="15505463">
                  <a:moveTo>
                    <a:pt x="0" y="0"/>
                  </a:moveTo>
                  <a:lnTo>
                    <a:pt x="15505463" y="0"/>
                  </a:lnTo>
                  <a:lnTo>
                    <a:pt x="15505463" y="9229196"/>
                  </a:lnTo>
                  <a:lnTo>
                    <a:pt x="0" y="92291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47" r="-10082" b="520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505463" cy="9229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Phase 4: Apply Set Bonuses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After moving, immediately apply any set bonuses you have earned from completed sets on your dashboard: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Eco set bonus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: Remove 1 Pollution from your Echo Inventory.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Well-being set bonus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: Gain 1 Well-being.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Transportation set bonus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: Gain 1 Capital.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Industry set bonus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: Gain 1 Capital.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These bonuses apply every turn, regardless of what else happens.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634498"/>
            <a:ext cx="14630400" cy="2870448"/>
            <a:chOff x="0" y="0"/>
            <a:chExt cx="19507200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827264"/>
            </a:xfrm>
            <a:custGeom>
              <a:avLst/>
              <a:gdLst/>
              <a:ahLst/>
              <a:cxnLst/>
              <a:rect r="r" b="b" t="t" l="l"/>
              <a:pathLst>
                <a:path h="3827264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0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Turn Structure</a:t>
              </a:r>
            </a:p>
            <a:p>
              <a:pPr algn="ctr">
                <a:lnSpc>
                  <a:spcPts val="10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29456" y="3160089"/>
            <a:ext cx="11629097" cy="7893447"/>
            <a:chOff x="0" y="0"/>
            <a:chExt cx="15505463" cy="105245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05463" cy="10524596"/>
            </a:xfrm>
            <a:custGeom>
              <a:avLst/>
              <a:gdLst/>
              <a:ahLst/>
              <a:cxnLst/>
              <a:rect r="r" b="b" t="t" l="l"/>
              <a:pathLst>
                <a:path h="10524596" w="15505463">
                  <a:moveTo>
                    <a:pt x="0" y="0"/>
                  </a:moveTo>
                  <a:lnTo>
                    <a:pt x="15505463" y="0"/>
                  </a:lnTo>
                  <a:lnTo>
                    <a:pt x="15505463" y="10524596"/>
                  </a:lnTo>
                  <a:lnTo>
                    <a:pt x="0" y="105245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4" r="-10082" b="579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505463" cy="105245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Phase 5: Resolve Space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Draw and resolve the event card for the space you landed on.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Follow its instructions immediately.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Event cards may: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Give or take Capital or Well-being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Add pollution to your Echo Inventory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Affect Global Eco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Grant Victory Points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Have other effects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Discard the card after use unless it says to keep it.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634498"/>
            <a:ext cx="14630400" cy="2870448"/>
            <a:chOff x="0" y="0"/>
            <a:chExt cx="19507200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827264"/>
            </a:xfrm>
            <a:custGeom>
              <a:avLst/>
              <a:gdLst/>
              <a:ahLst/>
              <a:cxnLst/>
              <a:rect r="r" b="b" t="t" l="l"/>
              <a:pathLst>
                <a:path h="3827264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0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Turn Structure</a:t>
              </a:r>
            </a:p>
            <a:p>
              <a:pPr algn="ctr">
                <a:lnSpc>
                  <a:spcPts val="10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29451" y="2253059"/>
            <a:ext cx="11629097" cy="9837471"/>
            <a:chOff x="0" y="0"/>
            <a:chExt cx="15505463" cy="131166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05463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15505463">
                  <a:moveTo>
                    <a:pt x="0" y="0"/>
                  </a:moveTo>
                  <a:lnTo>
                    <a:pt x="15505463" y="0"/>
                  </a:lnTo>
                  <a:lnTo>
                    <a:pt x="15505463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-10082" b="662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505463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Phase 6: Optional Building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After resolving the event, you may build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one building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if you have enough Capital and Land: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Choose a Building Card from the draw pile or from cards you have collected.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Pay the Capital cost shown on the card.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Remove the required number of Land pieces from your supply.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Add the card's Echo value to your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Echo Inventory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immediately.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Place the card face up in the corresponding section of your dashboard.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If this gives you three cards in that section, you immediately gain the set bonus and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 Victory Point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634498"/>
            <a:ext cx="14630400" cy="2870448"/>
            <a:chOff x="0" y="0"/>
            <a:chExt cx="19507200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827264"/>
            </a:xfrm>
            <a:custGeom>
              <a:avLst/>
              <a:gdLst/>
              <a:ahLst/>
              <a:cxnLst/>
              <a:rect r="r" b="b" t="t" l="l"/>
              <a:pathLst>
                <a:path h="3827264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0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Turn Structure</a:t>
              </a:r>
            </a:p>
            <a:p>
              <a:pPr algn="ctr">
                <a:lnSpc>
                  <a:spcPts val="10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29451" y="462235"/>
            <a:ext cx="11629097" cy="9837471"/>
            <a:chOff x="0" y="0"/>
            <a:chExt cx="15505463" cy="131166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05463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15505463">
                  <a:moveTo>
                    <a:pt x="0" y="0"/>
                  </a:moveTo>
                  <a:lnTo>
                    <a:pt x="15505463" y="0"/>
                  </a:lnTo>
                  <a:lnTo>
                    <a:pt x="15505463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-10082" b="662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505463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Phase 7: Production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Collect ongoing benefits from all your buildings as shown on each card.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his may include additional Capital, Well-being, or other effects.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329451" y="2810660"/>
            <a:ext cx="11629097" cy="9837471"/>
            <a:chOff x="0" y="0"/>
            <a:chExt cx="15505463" cy="131166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05463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15505463">
                  <a:moveTo>
                    <a:pt x="0" y="0"/>
                  </a:moveTo>
                  <a:lnTo>
                    <a:pt x="15505463" y="0"/>
                  </a:lnTo>
                  <a:lnTo>
                    <a:pt x="15505463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-10082" b="662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5505463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Phase 8: C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heck Thresholds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Check your personal resources: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If your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Personal Pollution reaches 100, you lose.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If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Capital reaches zero, you lose.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If Well-being reaches zero, you lose.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5" y="1028700"/>
            <a:ext cx="14630400" cy="2870448"/>
            <a:chOff x="0" y="0"/>
            <a:chExt cx="19507200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827264"/>
            </a:xfrm>
            <a:custGeom>
              <a:avLst/>
              <a:gdLst/>
              <a:ahLst/>
              <a:cxnLst/>
              <a:rect r="r" b="b" t="t" l="l"/>
              <a:pathLst>
                <a:path h="3827264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0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Turn Structure</a:t>
              </a:r>
            </a:p>
            <a:p>
              <a:pPr algn="ctr">
                <a:lnSpc>
                  <a:spcPts val="10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29451" y="1404786"/>
            <a:ext cx="11629097" cy="9837471"/>
            <a:chOff x="0" y="0"/>
            <a:chExt cx="15505463" cy="131166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05463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15505463">
                  <a:moveTo>
                    <a:pt x="0" y="0"/>
                  </a:moveTo>
                  <a:lnTo>
                    <a:pt x="15505463" y="0"/>
                  </a:lnTo>
                  <a:lnTo>
                    <a:pt x="15505463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-10082" b="662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505463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Phase 9: Global Events Wheel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After checking thresholds, spin the Global Events Wheel.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The segment it lands on affects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all players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simultaneously.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Resolve the effect, then check for any eliminations or Victory Point changes.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329451" y="3208869"/>
            <a:ext cx="11629097" cy="9837471"/>
            <a:chOff x="0" y="0"/>
            <a:chExt cx="15505463" cy="131166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05463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15505463">
                  <a:moveTo>
                    <a:pt x="0" y="0"/>
                  </a:moveTo>
                  <a:lnTo>
                    <a:pt x="15505463" y="0"/>
                  </a:lnTo>
                  <a:lnTo>
                    <a:pt x="15505463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-10082" b="662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5505463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Phase 10: End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of Turn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Pass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th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 dice clockwise to the next player.</a:t>
              </a: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  <a:p>
              <a:pPr algn="ctr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-12697"/>
            <a:ext cx="14630400" cy="2870448"/>
            <a:chOff x="0" y="0"/>
            <a:chExt cx="19507200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827264"/>
            </a:xfrm>
            <a:custGeom>
              <a:avLst/>
              <a:gdLst/>
              <a:ahLst/>
              <a:cxnLst/>
              <a:rect r="r" b="b" t="t" l="l"/>
              <a:pathLst>
                <a:path h="3827264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0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End of Round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38463" y="1028700"/>
            <a:ext cx="14811073" cy="9837471"/>
            <a:chOff x="0" y="0"/>
            <a:chExt cx="19748098" cy="131166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748097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19748097">
                  <a:moveTo>
                    <a:pt x="0" y="0"/>
                  </a:moveTo>
                  <a:lnTo>
                    <a:pt x="19748097" y="0"/>
                  </a:lnTo>
                  <a:lnTo>
                    <a:pt x="19748097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13567" b="662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748098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After the last player finishes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their turn, calculate the average personal pollution of all players before the next player begins their turn:</a:t>
              </a:r>
            </a:p>
            <a:p>
              <a:pPr algn="l" marL="690881" indent="-345440" lvl="1">
                <a:lnSpc>
                  <a:spcPts val="3840"/>
                </a:lnSpc>
                <a:buAutoNum type="arabicPeriod" startAt="1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Add together each player's current Personal Pollution score.</a:t>
              </a:r>
            </a:p>
            <a:p>
              <a:pPr algn="l" marL="690881" indent="-345440" lvl="1">
                <a:lnSpc>
                  <a:spcPts val="3840"/>
                </a:lnSpc>
                <a:buAutoNum type="arabicPeriod" startAt="1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Divide the total by the number of players.</a:t>
              </a:r>
            </a:p>
            <a:p>
              <a:pPr algn="l" marL="690881" indent="-345440" lvl="1">
                <a:lnSpc>
                  <a:spcPts val="3840"/>
                </a:lnSpc>
                <a:buAutoNum type="arabicPeriod" startAt="1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Round up to the nearest whole number. This is the Decay Amount.</a:t>
              </a:r>
            </a:p>
            <a:p>
              <a:pPr algn="l" marL="690881" indent="-345440" lvl="1">
                <a:lnSpc>
                  <a:spcPts val="3840"/>
                </a:lnSpc>
                <a:buAutoNum type="arabicPeriod" startAt="1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Subtract the Decay Amount from the Global Eco track.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This is the only time Global Eco decreases.</a:t>
              </a: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51887" y="4978765"/>
            <a:ext cx="16500180" cy="9837471"/>
            <a:chOff x="0" y="0"/>
            <a:chExt cx="22000239" cy="131166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000240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22000240">
                  <a:moveTo>
                    <a:pt x="0" y="0"/>
                  </a:moveTo>
                  <a:lnTo>
                    <a:pt x="22000240" y="0"/>
                  </a:lnTo>
                  <a:lnTo>
                    <a:pt x="22000240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22415" b="662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2000239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Global Eco Penalty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If Global Eco reaches zero during this calculation, apply the penalty immediately:</a:t>
              </a:r>
            </a:p>
            <a:p>
              <a:pPr algn="l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Every player loses 1 Victory Point.</a:t>
              </a:r>
            </a:p>
            <a:p>
              <a:pPr algn="l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Then Global Eco resets to </a:t>
              </a:r>
              <a:r>
                <a:rPr lang="en-US" b="true" sz="3200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50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</a:p>
            <a:p>
              <a:pPr algn="l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If any player's Victory Points would go below zero, they stay at zero instead.</a:t>
              </a:r>
            </a:p>
            <a:p>
              <a:pPr algn="l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Then check again for any players who may have lost due to resources hitting zero from the penalty.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After resetting, continue the game.</a:t>
              </a: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-12697"/>
            <a:ext cx="14630400" cy="2743200"/>
            <a:chOff x="0" y="0"/>
            <a:chExt cx="1950720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36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Reaching the center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51887" y="1807001"/>
            <a:ext cx="16500180" cy="9837471"/>
            <a:chOff x="0" y="0"/>
            <a:chExt cx="22000239" cy="131166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00240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22000240">
                  <a:moveTo>
                    <a:pt x="0" y="0"/>
                  </a:moveTo>
                  <a:lnTo>
                    <a:pt x="22000240" y="0"/>
                  </a:lnTo>
                  <a:lnTo>
                    <a:pt x="22000240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22415" b="662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2000239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When you land exactly on the center, you immediately gain: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2 Capital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2 Well-being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Reduce your personal Pollution by 1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Increase Global Eco by 1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Draw one Building Card for free and may build it immediately (no land cost)</a:t>
              </a:r>
            </a:p>
            <a:p>
              <a:pPr algn="just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Additionally,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every second time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you reach the center, you gain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 Victory Point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40343" y="846705"/>
            <a:ext cx="15923266" cy="2870448"/>
            <a:chOff x="0" y="0"/>
            <a:chExt cx="21231022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31022" cy="3827264"/>
            </a:xfrm>
            <a:custGeom>
              <a:avLst/>
              <a:gdLst/>
              <a:ahLst/>
              <a:cxnLst/>
              <a:rect r="r" b="b" t="t" l="l"/>
              <a:pathLst>
                <a:path h="3827264" w="21231022">
                  <a:moveTo>
                    <a:pt x="0" y="0"/>
                  </a:moveTo>
                  <a:lnTo>
                    <a:pt x="21231022" y="0"/>
                  </a:lnTo>
                  <a:lnTo>
                    <a:pt x="21231022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8119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1231022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Echo System (Pollution)</a:t>
              </a:r>
            </a:p>
            <a:p>
              <a:pPr algn="ctr">
                <a:lnSpc>
                  <a:spcPts val="10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84061" y="2758277"/>
            <a:ext cx="12119887" cy="9837471"/>
            <a:chOff x="0" y="0"/>
            <a:chExt cx="16159849" cy="131166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159849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16159849">
                  <a:moveTo>
                    <a:pt x="0" y="0"/>
                  </a:moveTo>
                  <a:lnTo>
                    <a:pt x="16159849" y="0"/>
                  </a:lnTo>
                  <a:lnTo>
                    <a:pt x="16159849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-5624" b="662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6159849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Your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Ec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ho Inventory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holds pollution that has not yet affected you or the environment.</a:t>
              </a:r>
            </a:p>
            <a:p>
              <a:pPr algn="just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It has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no maximum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When you build a polluting building or certain events add pollution, put that many Pollution tokens into your Echo Inventory.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 pollution stays in your Echo Inventory until your </a:t>
              </a:r>
              <a:r>
                <a:rPr lang="en-US" b="true" sz="3200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next turn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, when it will be released based on your dice roll.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R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l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se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d polluti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on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ad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d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s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 your Personal Pollution but does </a:t>
              </a:r>
              <a:r>
                <a:rPr lang="en-US" b="true" sz="3200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not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d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re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ct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ly reduce Gl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bal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Ec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40343" y="846705"/>
            <a:ext cx="15923266" cy="2870448"/>
            <a:chOff x="0" y="0"/>
            <a:chExt cx="21231022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31022" cy="3827264"/>
            </a:xfrm>
            <a:custGeom>
              <a:avLst/>
              <a:gdLst/>
              <a:ahLst/>
              <a:cxnLst/>
              <a:rect r="r" b="b" t="t" l="l"/>
              <a:pathLst>
                <a:path h="3827264" w="21231022">
                  <a:moveTo>
                    <a:pt x="0" y="0"/>
                  </a:moveTo>
                  <a:lnTo>
                    <a:pt x="21231022" y="0"/>
                  </a:lnTo>
                  <a:lnTo>
                    <a:pt x="21231022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8119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1231022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Echo System (Pollution)</a:t>
              </a:r>
            </a:p>
            <a:p>
              <a:pPr algn="ctr">
                <a:lnSpc>
                  <a:spcPts val="10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84061" y="2758277"/>
            <a:ext cx="12119887" cy="9837471"/>
            <a:chOff x="0" y="0"/>
            <a:chExt cx="16159849" cy="131166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159849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16159849">
                  <a:moveTo>
                    <a:pt x="0" y="0"/>
                  </a:moveTo>
                  <a:lnTo>
                    <a:pt x="16159849" y="0"/>
                  </a:lnTo>
                  <a:lnTo>
                    <a:pt x="16159849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-5624" b="662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6159849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Example of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Ec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ho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R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lease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Playe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r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A builds a Coal Plant on their turn, adding 5 Pollution to their Echo Inventory.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Turn passes 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Pl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yer B, then C, then D.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When Player A's next turn begins, they roll the dice and get a total of 8.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ey have 5 Pollution in their Echo Inventory, so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hey release all 5.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ey move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5 Polluti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on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 Personal Pollution.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Global Eco is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not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reduced dur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ing this phase.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eir 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cho Inventor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y is now empty.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They then m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ove 8 sp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aces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and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c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ontinue their turn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40343" y="846705"/>
            <a:ext cx="15923266" cy="2870448"/>
            <a:chOff x="0" y="0"/>
            <a:chExt cx="21231022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31022" cy="3827264"/>
            </a:xfrm>
            <a:custGeom>
              <a:avLst/>
              <a:gdLst/>
              <a:ahLst/>
              <a:cxnLst/>
              <a:rect r="r" b="b" t="t" l="l"/>
              <a:pathLst>
                <a:path h="3827264" w="21231022">
                  <a:moveTo>
                    <a:pt x="0" y="0"/>
                  </a:moveTo>
                  <a:lnTo>
                    <a:pt x="21231022" y="0"/>
                  </a:lnTo>
                  <a:lnTo>
                    <a:pt x="21231022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8119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1231022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Echo System (Pollution)</a:t>
              </a:r>
            </a:p>
            <a:p>
              <a:pPr algn="ctr">
                <a:lnSpc>
                  <a:spcPts val="10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442033" y="2891013"/>
            <a:ext cx="12119887" cy="9837471"/>
            <a:chOff x="0" y="0"/>
            <a:chExt cx="16159849" cy="131166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159849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16159849">
                  <a:moveTo>
                    <a:pt x="0" y="0"/>
                  </a:moveTo>
                  <a:lnTo>
                    <a:pt x="16159849" y="0"/>
                  </a:lnTo>
                  <a:lnTo>
                    <a:pt x="16159849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-5624" b="662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6159849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Clean Roll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Examp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le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Playe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r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A has 7 Pollution in their Echo Inventory.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n their next turn, they roll a double (3 and 3).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Instead of releasing pollution, 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h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ey remove 2 Pollution from their Echo Inventory permanently.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N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polluti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on is added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 Personal Pollution.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They then m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ove 6 sp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aces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and 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c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ontinue their turn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40343" y="846705"/>
            <a:ext cx="15923266" cy="2870448"/>
            <a:chOff x="0" y="0"/>
            <a:chExt cx="21231022" cy="3827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31022" cy="3827264"/>
            </a:xfrm>
            <a:custGeom>
              <a:avLst/>
              <a:gdLst/>
              <a:ahLst/>
              <a:cxnLst/>
              <a:rect r="r" b="b" t="t" l="l"/>
              <a:pathLst>
                <a:path h="3827264" w="21231022">
                  <a:moveTo>
                    <a:pt x="0" y="0"/>
                  </a:moveTo>
                  <a:lnTo>
                    <a:pt x="21231022" y="0"/>
                  </a:lnTo>
                  <a:lnTo>
                    <a:pt x="21231022" y="3827264"/>
                  </a:lnTo>
                  <a:lnTo>
                    <a:pt x="0" y="3827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9" r="8119" b="-47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1231022" cy="382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Additional Rules</a:t>
              </a:r>
            </a:p>
            <a:p>
              <a:pPr algn="ctr">
                <a:lnSpc>
                  <a:spcPts val="10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442033" y="1652142"/>
            <a:ext cx="12119887" cy="9837471"/>
            <a:chOff x="0" y="0"/>
            <a:chExt cx="16159849" cy="131166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159849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16159849">
                  <a:moveTo>
                    <a:pt x="0" y="0"/>
                  </a:moveTo>
                  <a:lnTo>
                    <a:pt x="16159849" y="0"/>
                  </a:lnTo>
                  <a:lnTo>
                    <a:pt x="16159849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-5624" b="662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6159849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Land</a:t>
              </a:r>
            </a:p>
            <a:p>
              <a:pPr algn="just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You start with </a:t>
              </a: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100 Land pieces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</a:p>
            <a:p>
              <a:pPr algn="just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When you build a card: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Remove that many Land pieces from your supply.</a:t>
              </a:r>
            </a:p>
            <a:p>
              <a:pPr algn="just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You cannot build if you do not have enough Land.</a:t>
              </a:r>
            </a:p>
            <a:p>
              <a:pPr algn="just">
                <a:lnSpc>
                  <a:spcPts val="3840"/>
                </a:lnSpc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Land is never regained except through extremely rare events.</a:t>
              </a: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442033" y="5111501"/>
            <a:ext cx="12119887" cy="9837471"/>
            <a:chOff x="0" y="0"/>
            <a:chExt cx="16159849" cy="131166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159849" cy="13116629"/>
            </a:xfrm>
            <a:custGeom>
              <a:avLst/>
              <a:gdLst/>
              <a:ahLst/>
              <a:cxnLst/>
              <a:rect r="r" b="b" t="t" l="l"/>
              <a:pathLst>
                <a:path h="13116629" w="16159849">
                  <a:moveTo>
                    <a:pt x="0" y="0"/>
                  </a:moveTo>
                  <a:lnTo>
                    <a:pt x="16159849" y="0"/>
                  </a:lnTo>
                  <a:lnTo>
                    <a:pt x="16159849" y="13116629"/>
                  </a:lnTo>
                  <a:lnTo>
                    <a:pt x="0" y="13116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90" r="-5624" b="662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6159849" cy="13116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Winning the Game</a:t>
              </a:r>
            </a:p>
            <a:p>
              <a:pPr algn="just">
                <a:lnSpc>
                  <a:spcPts val="3840"/>
                </a:lnSpc>
              </a:pPr>
              <a:r>
                <a:rPr lang="en-US" sz="3200" b="true">
                  <a:solidFill>
                    <a:srgbClr val="E8D9B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he game ends immediately when: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A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player reaches 30 Victory Points.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Only one player remains.</a:t>
              </a:r>
            </a:p>
            <a:p>
              <a:pPr algn="just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Global</a:t>
              </a:r>
              <a:r>
                <a:rPr lang="en-US" sz="3200">
                  <a:solidFill>
                    <a:srgbClr val="E8D9B5"/>
                  </a:solidFill>
                  <a:latin typeface="Georgia"/>
                  <a:ea typeface="Georgia"/>
                  <a:cs typeface="Georgia"/>
                  <a:sym typeface="Georgia"/>
                </a:rPr>
                <a:t> Eco hits zero and all players are eliminated.</a:t>
              </a: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  <a:p>
              <a:pPr algn="just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5113" y="2063907"/>
            <a:ext cx="13200721" cy="7194393"/>
          </a:xfrm>
          <a:custGeom>
            <a:avLst/>
            <a:gdLst/>
            <a:ahLst/>
            <a:cxnLst/>
            <a:rect r="r" b="b" t="t" l="l"/>
            <a:pathLst>
              <a:path h="7194393" w="13200721">
                <a:moveTo>
                  <a:pt x="0" y="0"/>
                </a:moveTo>
                <a:lnTo>
                  <a:pt x="13200721" y="0"/>
                </a:lnTo>
                <a:lnTo>
                  <a:pt x="13200721" y="7194393"/>
                </a:lnTo>
                <a:lnTo>
                  <a:pt x="0" y="7194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3841" y="-342900"/>
            <a:ext cx="15923266" cy="2743200"/>
            <a:chOff x="0" y="0"/>
            <a:chExt cx="21231022" cy="365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31022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231022">
                  <a:moveTo>
                    <a:pt x="0" y="0"/>
                  </a:moveTo>
                  <a:lnTo>
                    <a:pt x="21231022" y="0"/>
                  </a:lnTo>
                  <a:lnTo>
                    <a:pt x="2123102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8119" b="-5392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1231022" cy="36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Tentative Board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CITY ASSETS — BUILD YOUR EMPIRE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907543"/>
            <a:ext cx="7889243" cy="848363"/>
            <a:chOff x="0" y="0"/>
            <a:chExt cx="1051899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E3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920240"/>
            <a:ext cx="7863840" cy="822960"/>
            <a:chOff x="0" y="0"/>
            <a:chExt cx="1048512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4851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🌱  GROUP A — Environmental Health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913383"/>
            <a:ext cx="7889243" cy="903227"/>
            <a:chOff x="0" y="0"/>
            <a:chExt cx="10518991" cy="12043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3035808"/>
            <a:ext cx="3657600" cy="640080"/>
            <a:chOff x="0" y="0"/>
            <a:chExt cx="48768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Sewage/Water Filtration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89120" y="3035808"/>
            <a:ext cx="1280160" cy="640080"/>
            <a:chOff x="0" y="0"/>
            <a:chExt cx="170688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760720" y="3035808"/>
            <a:ext cx="1280160" cy="640080"/>
            <a:chOff x="0" y="0"/>
            <a:chExt cx="170688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32320" y="3035808"/>
            <a:ext cx="1097280" cy="640080"/>
            <a:chOff x="0" y="0"/>
            <a:chExt cx="146304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5943" y="3864359"/>
            <a:ext cx="7889243" cy="903227"/>
            <a:chOff x="0" y="0"/>
            <a:chExt cx="10518991" cy="12043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1520" y="3986784"/>
            <a:ext cx="3657600" cy="640080"/>
            <a:chOff x="0" y="0"/>
            <a:chExt cx="4876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Solar Energy Farm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389120" y="3986784"/>
            <a:ext cx="1280160" cy="640080"/>
            <a:chOff x="0" y="0"/>
            <a:chExt cx="170688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60720" y="3986784"/>
            <a:ext cx="1280160" cy="640080"/>
            <a:chOff x="0" y="0"/>
            <a:chExt cx="170688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-6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32320" y="3986784"/>
            <a:ext cx="1097280" cy="640080"/>
            <a:chOff x="0" y="0"/>
            <a:chExt cx="146304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5943" y="4815335"/>
            <a:ext cx="7889243" cy="903227"/>
            <a:chOff x="0" y="0"/>
            <a:chExt cx="10518991" cy="12043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31520" y="4937760"/>
            <a:ext cx="3657600" cy="640080"/>
            <a:chOff x="0" y="0"/>
            <a:chExt cx="487680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Waste-to-Energy Plant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389120" y="4937760"/>
            <a:ext cx="1280160" cy="640080"/>
            <a:chOff x="0" y="0"/>
            <a:chExt cx="170688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760720" y="4937760"/>
            <a:ext cx="1280160" cy="640080"/>
            <a:chOff x="0" y="0"/>
            <a:chExt cx="170688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32320" y="4937760"/>
            <a:ext cx="1097280" cy="640080"/>
            <a:chOff x="0" y="0"/>
            <a:chExt cx="146304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5766311"/>
            <a:ext cx="7889243" cy="903227"/>
            <a:chOff x="0" y="0"/>
            <a:chExt cx="10518991" cy="12043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31520" y="5888736"/>
            <a:ext cx="3657600" cy="640080"/>
            <a:chOff x="0" y="0"/>
            <a:chExt cx="487680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Air Quality Monitoring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389120" y="5888736"/>
            <a:ext cx="1280160" cy="640080"/>
            <a:chOff x="0" y="0"/>
            <a:chExt cx="170688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-2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760720" y="5888736"/>
            <a:ext cx="1280160" cy="640080"/>
            <a:chOff x="0" y="0"/>
            <a:chExt cx="170688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132320" y="5888736"/>
            <a:ext cx="1097280" cy="640080"/>
            <a:chOff x="0" y="0"/>
            <a:chExt cx="146304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35943" y="6717287"/>
            <a:ext cx="7889243" cy="903227"/>
            <a:chOff x="0" y="0"/>
            <a:chExt cx="10518991" cy="120430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31520" y="6839712"/>
            <a:ext cx="3657600" cy="640080"/>
            <a:chOff x="0" y="0"/>
            <a:chExt cx="487680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Air Filtration Towers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389120" y="6839712"/>
            <a:ext cx="1280160" cy="640080"/>
            <a:chOff x="0" y="0"/>
            <a:chExt cx="170688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-3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760720" y="6839712"/>
            <a:ext cx="1280160" cy="640080"/>
            <a:chOff x="0" y="0"/>
            <a:chExt cx="1706880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-4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132320" y="6839712"/>
            <a:ext cx="1097280" cy="640080"/>
            <a:chOff x="0" y="0"/>
            <a:chExt cx="1463040" cy="853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35943" y="7668263"/>
            <a:ext cx="7889243" cy="903227"/>
            <a:chOff x="0" y="0"/>
            <a:chExt cx="10518991" cy="120430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31520" y="7790688"/>
            <a:ext cx="3657600" cy="640080"/>
            <a:chOff x="0" y="0"/>
            <a:chExt cx="4876800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Permeable Pavements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389120" y="7790688"/>
            <a:ext cx="1280160" cy="640080"/>
            <a:chOff x="0" y="0"/>
            <a:chExt cx="1706880" cy="8534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-2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760720" y="7790688"/>
            <a:ext cx="1280160" cy="640080"/>
            <a:chOff x="0" y="0"/>
            <a:chExt cx="170688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-4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132320" y="7790688"/>
            <a:ext cx="1097280" cy="640080"/>
            <a:chOff x="0" y="0"/>
            <a:chExt cx="1463040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+1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35943" y="8619239"/>
            <a:ext cx="7889243" cy="903227"/>
            <a:chOff x="0" y="0"/>
            <a:chExt cx="10518991" cy="120430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31520" y="8741664"/>
            <a:ext cx="3657600" cy="640080"/>
            <a:chOff x="0" y="0"/>
            <a:chExt cx="4876800" cy="8534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Hazardous Waste Sites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389120" y="8741664"/>
            <a:ext cx="1280160" cy="640080"/>
            <a:chOff x="0" y="0"/>
            <a:chExt cx="1706880" cy="8534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-2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760720" y="8741664"/>
            <a:ext cx="1280160" cy="640080"/>
            <a:chOff x="0" y="0"/>
            <a:chExt cx="170688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-5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7132320" y="8741664"/>
            <a:ext cx="1097280" cy="640080"/>
            <a:chOff x="0" y="0"/>
            <a:chExt cx="1463040" cy="8534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314183" y="1907543"/>
            <a:ext cx="8437883" cy="848363"/>
            <a:chOff x="0" y="0"/>
            <a:chExt cx="11250511" cy="113115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6B8A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1250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14171"/>
                  </a:lnTo>
                  <a:cubicBezTo>
                    <a:pt x="11250422" y="1123569"/>
                    <a:pt x="11242802" y="1131062"/>
                    <a:pt x="11233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233531" y="1097280"/>
                  </a:lnTo>
                  <a:lnTo>
                    <a:pt x="11233531" y="1114171"/>
                  </a:lnTo>
                  <a:lnTo>
                    <a:pt x="11216640" y="11141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326880" y="1920240"/>
            <a:ext cx="8412480" cy="822960"/>
            <a:chOff x="0" y="0"/>
            <a:chExt cx="11216640" cy="109728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180" r="0" b="-14918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112166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🚇  GROUP B — Transport &amp; Mobility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14183" y="2913383"/>
            <a:ext cx="8437883" cy="903227"/>
            <a:chOff x="0" y="0"/>
            <a:chExt cx="11250511" cy="120430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509760" y="3035808"/>
            <a:ext cx="4023360" cy="640080"/>
            <a:chOff x="0" y="0"/>
            <a:chExt cx="5364480" cy="8534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Subways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624560" y="3035808"/>
            <a:ext cx="1280160" cy="640080"/>
            <a:chOff x="0" y="0"/>
            <a:chExt cx="1706880" cy="8534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-6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4959584" y="3035808"/>
            <a:ext cx="1280160" cy="640080"/>
            <a:chOff x="0" y="0"/>
            <a:chExt cx="1706880" cy="853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-4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6276320" y="3035808"/>
            <a:ext cx="1280160" cy="640080"/>
            <a:chOff x="0" y="0"/>
            <a:chExt cx="1706880" cy="853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+6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314183" y="3864359"/>
            <a:ext cx="8437883" cy="903227"/>
            <a:chOff x="0" y="0"/>
            <a:chExt cx="11250511" cy="1204303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509760" y="3986784"/>
            <a:ext cx="4023360" cy="640080"/>
            <a:chOff x="0" y="0"/>
            <a:chExt cx="5364480" cy="853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 Facility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3624560" y="3986784"/>
            <a:ext cx="1280160" cy="640080"/>
            <a:chOff x="0" y="0"/>
            <a:chExt cx="1706880" cy="853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-3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4959584" y="3986784"/>
            <a:ext cx="1280160" cy="640080"/>
            <a:chOff x="0" y="0"/>
            <a:chExt cx="1706880" cy="853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-3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6276320" y="3986784"/>
            <a:ext cx="1280160" cy="640080"/>
            <a:chOff x="0" y="0"/>
            <a:chExt cx="1706880" cy="8534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314183" y="4815335"/>
            <a:ext cx="8437883" cy="903227"/>
            <a:chOff x="0" y="0"/>
            <a:chExt cx="11250511" cy="1204303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509760" y="4937760"/>
            <a:ext cx="4023360" cy="640080"/>
            <a:chOff x="0" y="0"/>
            <a:chExt cx="5364480" cy="85344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 Hubs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3624560" y="4937760"/>
            <a:ext cx="1280160" cy="640080"/>
            <a:chOff x="0" y="0"/>
            <a:chExt cx="1706880" cy="85344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-4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4959584" y="4937760"/>
            <a:ext cx="1280160" cy="640080"/>
            <a:chOff x="0" y="0"/>
            <a:chExt cx="1706880" cy="85344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6276320" y="4937760"/>
            <a:ext cx="1280160" cy="640080"/>
            <a:chOff x="0" y="0"/>
            <a:chExt cx="1706880" cy="85344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314183" y="5766311"/>
            <a:ext cx="8437883" cy="903227"/>
            <a:chOff x="0" y="0"/>
            <a:chExt cx="11250511" cy="1204303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509760" y="5888736"/>
            <a:ext cx="4023360" cy="640080"/>
            <a:chOff x="0" y="0"/>
            <a:chExt cx="5364480" cy="853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Lanes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3624560" y="5888736"/>
            <a:ext cx="1280160" cy="640080"/>
            <a:chOff x="0" y="0"/>
            <a:chExt cx="1706880" cy="853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-1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4959584" y="5888736"/>
            <a:ext cx="1280160" cy="640080"/>
            <a:chOff x="0" y="0"/>
            <a:chExt cx="1706880" cy="85344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6276320" y="5888736"/>
            <a:ext cx="1280160" cy="640080"/>
            <a:chOff x="0" y="0"/>
            <a:chExt cx="1706880" cy="85344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9314183" y="6717287"/>
            <a:ext cx="8437883" cy="903227"/>
            <a:chOff x="0" y="0"/>
            <a:chExt cx="11250511" cy="1204303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9509760" y="6839712"/>
            <a:ext cx="4023360" cy="640080"/>
            <a:chOff x="0" y="0"/>
            <a:chExt cx="5364480" cy="85344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Pedestrian Bridges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624560" y="6839712"/>
            <a:ext cx="1280160" cy="640080"/>
            <a:chOff x="0" y="0"/>
            <a:chExt cx="1706880" cy="85344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4959584" y="6839712"/>
            <a:ext cx="1280160" cy="640080"/>
            <a:chOff x="0" y="0"/>
            <a:chExt cx="1706880" cy="85344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6276320" y="6839712"/>
            <a:ext cx="1280160" cy="640080"/>
            <a:chOff x="0" y="0"/>
            <a:chExt cx="1706880" cy="85344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9314183" y="7668263"/>
            <a:ext cx="8437883" cy="903227"/>
            <a:chOff x="0" y="0"/>
            <a:chExt cx="11250511" cy="1204303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9509760" y="7790688"/>
            <a:ext cx="4023360" cy="640080"/>
            <a:chOff x="0" y="0"/>
            <a:chExt cx="5364480" cy="853440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Traffic Management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13624560" y="7790688"/>
            <a:ext cx="1280160" cy="640080"/>
            <a:chOff x="0" y="0"/>
            <a:chExt cx="1706880" cy="853440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-2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14959584" y="7790688"/>
            <a:ext cx="1280160" cy="640080"/>
            <a:chOff x="0" y="0"/>
            <a:chExt cx="1706880" cy="85344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-1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6276320" y="7790688"/>
            <a:ext cx="1280160" cy="640080"/>
            <a:chOff x="0" y="0"/>
            <a:chExt cx="1706880" cy="853440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28575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005840"/>
            <a:chOff x="0" y="0"/>
            <a:chExt cx="243840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CITY ASSETS — COMMUNITY, HEALTH &amp; SAFETY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3063" y="1596647"/>
            <a:ext cx="5694683" cy="683771"/>
            <a:chOff x="0" y="0"/>
            <a:chExt cx="7592911" cy="9116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6B3D8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92822" cy="911608"/>
            </a:xfrm>
            <a:custGeom>
              <a:avLst/>
              <a:gdLst/>
              <a:ahLst/>
              <a:cxnLst/>
              <a:rect r="r" b="b" t="t" l="l"/>
              <a:pathLst>
                <a:path h="911608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894715"/>
                  </a:lnTo>
                  <a:cubicBezTo>
                    <a:pt x="7592822" y="904113"/>
                    <a:pt x="7585202" y="911606"/>
                    <a:pt x="757593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575931" y="877824"/>
                  </a:lnTo>
                  <a:lnTo>
                    <a:pt x="7575931" y="894715"/>
                  </a:lnTo>
                  <a:lnTo>
                    <a:pt x="7559040" y="894715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65760" y="1609344"/>
            <a:ext cx="5669280" cy="658368"/>
            <a:chOff x="0" y="0"/>
            <a:chExt cx="7559040" cy="8778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7559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📚  GROUP C — Community &amp; Culture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53063" y="2328167"/>
            <a:ext cx="5694683" cy="921515"/>
            <a:chOff x="0" y="0"/>
            <a:chExt cx="7592911" cy="12286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2468880"/>
            <a:ext cx="4023360" cy="640080"/>
            <a:chOff x="0" y="0"/>
            <a:chExt cx="536448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Libraries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560320" y="2593259"/>
            <a:ext cx="3291840" cy="888839"/>
            <a:chOff x="0" y="0"/>
            <a:chExt cx="4389120" cy="11851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1185118"/>
            </a:xfrm>
            <a:custGeom>
              <a:avLst/>
              <a:gdLst/>
              <a:ahLst/>
              <a:cxnLst/>
              <a:rect r="r" b="b" t="t" l="l"/>
              <a:pathLst>
                <a:path h="118511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2" t="0" r="56996" b="279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389120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   🏭 0   💰 -3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53063" y="3297431"/>
            <a:ext cx="5694683" cy="921515"/>
            <a:chOff x="0" y="0"/>
            <a:chExt cx="7592911" cy="12286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16281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81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48640" y="3438144"/>
            <a:ext cx="4023360" cy="640080"/>
            <a:chOff x="0" y="0"/>
            <a:chExt cx="536448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Museums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560320" y="3344932"/>
            <a:ext cx="3291840" cy="1232073"/>
            <a:chOff x="0" y="0"/>
            <a:chExt cx="4389120" cy="164276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0" cy="1642765"/>
            </a:xfrm>
            <a:custGeom>
              <a:avLst/>
              <a:gdLst/>
              <a:ahLst/>
              <a:cxnLst/>
              <a:rect r="r" b="b" t="t" l="l"/>
              <a:pathLst>
                <a:path h="1642765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42765"/>
                  </a:lnTo>
                  <a:lnTo>
                    <a:pt x="0" y="16427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2" t="0" r="56996" b="4804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389120" cy="1680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                                                   😊 +5   🏭 1   💰 -4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53063" y="4266695"/>
            <a:ext cx="5694683" cy="921515"/>
            <a:chOff x="0" y="0"/>
            <a:chExt cx="7592911" cy="12286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48640" y="4407408"/>
            <a:ext cx="4023360" cy="640080"/>
            <a:chOff x="0" y="0"/>
            <a:chExt cx="536448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Theatre/Cinema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648588" y="4564588"/>
            <a:ext cx="3291840" cy="888839"/>
            <a:chOff x="0" y="0"/>
            <a:chExt cx="4389120" cy="11851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9120" cy="1185118"/>
            </a:xfrm>
            <a:custGeom>
              <a:avLst/>
              <a:gdLst/>
              <a:ahLst/>
              <a:cxnLst/>
              <a:rect r="r" b="b" t="t" l="l"/>
              <a:pathLst>
                <a:path h="118511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2" t="0" r="56996" b="2798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389120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+6   🏭 +1   💰 -2 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53063" y="5235959"/>
            <a:ext cx="5694683" cy="921515"/>
            <a:chOff x="0" y="0"/>
            <a:chExt cx="7592911" cy="122868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16281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81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48640" y="5376672"/>
            <a:ext cx="4023360" cy="640080"/>
            <a:chOff x="0" y="0"/>
            <a:chExt cx="536448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Amphitheatres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560320" y="5501051"/>
            <a:ext cx="3291840" cy="888839"/>
            <a:chOff x="0" y="0"/>
            <a:chExt cx="4389120" cy="118511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89120" cy="1185118"/>
            </a:xfrm>
            <a:custGeom>
              <a:avLst/>
              <a:gdLst/>
              <a:ahLst/>
              <a:cxnLst/>
              <a:rect r="r" b="b" t="t" l="l"/>
              <a:pathLst>
                <a:path h="118511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2" t="0" r="56996" b="2798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389120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   🏭 0   💰 -2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53063" y="6205223"/>
            <a:ext cx="5694683" cy="921515"/>
            <a:chOff x="0" y="0"/>
            <a:chExt cx="7592911" cy="122868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48640" y="6345936"/>
            <a:ext cx="4023360" cy="640080"/>
            <a:chOff x="0" y="0"/>
            <a:chExt cx="536448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Schools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560320" y="6470315"/>
            <a:ext cx="3291840" cy="888839"/>
            <a:chOff x="0" y="0"/>
            <a:chExt cx="4389120" cy="118511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89120" cy="1185118"/>
            </a:xfrm>
            <a:custGeom>
              <a:avLst/>
              <a:gdLst/>
              <a:ahLst/>
              <a:cxnLst/>
              <a:rect r="r" b="b" t="t" l="l"/>
              <a:pathLst>
                <a:path h="118511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2" t="0" r="56996" b="279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389120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+6   🏭 +1   💰 -4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53063" y="7174487"/>
            <a:ext cx="5694683" cy="921515"/>
            <a:chOff x="0" y="0"/>
            <a:chExt cx="7592911" cy="122868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162818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81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48640" y="7315200"/>
            <a:ext cx="4023360" cy="640080"/>
            <a:chOff x="0" y="0"/>
            <a:chExt cx="536448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 Training Schools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560320" y="7439579"/>
            <a:ext cx="3291840" cy="888839"/>
            <a:chOff x="0" y="0"/>
            <a:chExt cx="4389120" cy="118511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389120" cy="1185118"/>
            </a:xfrm>
            <a:custGeom>
              <a:avLst/>
              <a:gdLst/>
              <a:ahLst/>
              <a:cxnLst/>
              <a:rect r="r" b="b" t="t" l="l"/>
              <a:pathLst>
                <a:path h="118511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2" t="0" r="56996" b="2798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389120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+7   🏭 +1   💰 -5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53063" y="8143751"/>
            <a:ext cx="5694683" cy="921515"/>
            <a:chOff x="0" y="0"/>
            <a:chExt cx="7592911" cy="122868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48640" y="8284464"/>
            <a:ext cx="4023360" cy="640080"/>
            <a:chOff x="0" y="0"/>
            <a:chExt cx="536448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Farmers Market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560320" y="8408843"/>
            <a:ext cx="3291840" cy="888839"/>
            <a:chOff x="0" y="0"/>
            <a:chExt cx="4389120" cy="11851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389120" cy="1185118"/>
            </a:xfrm>
            <a:custGeom>
              <a:avLst/>
              <a:gdLst/>
              <a:ahLst/>
              <a:cxnLst/>
              <a:rect r="r" b="b" t="t" l="l"/>
              <a:pathLst>
                <a:path h="118511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2" t="0" r="56996" b="2798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389120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   🏭 +1   💰 +3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388103" y="1596647"/>
            <a:ext cx="5694683" cy="683771"/>
            <a:chOff x="0" y="0"/>
            <a:chExt cx="7592911" cy="91169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8B1A1A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592822" cy="911608"/>
            </a:xfrm>
            <a:custGeom>
              <a:avLst/>
              <a:gdLst/>
              <a:ahLst/>
              <a:cxnLst/>
              <a:rect r="r" b="b" t="t" l="l"/>
              <a:pathLst>
                <a:path h="911608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894715"/>
                  </a:lnTo>
                  <a:cubicBezTo>
                    <a:pt x="7592822" y="904113"/>
                    <a:pt x="7585202" y="911606"/>
                    <a:pt x="757593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575931" y="877824"/>
                  </a:lnTo>
                  <a:lnTo>
                    <a:pt x="7575931" y="894715"/>
                  </a:lnTo>
                  <a:lnTo>
                    <a:pt x="7559040" y="894715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400800" y="1609344"/>
            <a:ext cx="5669280" cy="658368"/>
            <a:chOff x="0" y="0"/>
            <a:chExt cx="7559040" cy="87782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7559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🏃  GROUP D — Health &amp; Recreation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388103" y="2328167"/>
            <a:ext cx="5694683" cy="921515"/>
            <a:chOff x="0" y="0"/>
            <a:chExt cx="7592911" cy="122868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583680" y="2468880"/>
            <a:ext cx="3474720" cy="640080"/>
            <a:chOff x="0" y="0"/>
            <a:chExt cx="4632960" cy="853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Health Clinics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235445" y="2593259"/>
            <a:ext cx="2743200" cy="888839"/>
            <a:chOff x="0" y="0"/>
            <a:chExt cx="3657600" cy="118511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657600" cy="1185118"/>
            </a:xfrm>
            <a:custGeom>
              <a:avLst/>
              <a:gdLst/>
              <a:ahLst/>
              <a:cxnLst/>
              <a:rect r="r" b="b" t="t" l="l"/>
              <a:pathLst>
                <a:path h="118511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270" t="0" r="48395" b="2798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657600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+7   🏭 +1   💰 -5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388103" y="3297431"/>
            <a:ext cx="5694683" cy="921515"/>
            <a:chOff x="0" y="0"/>
            <a:chExt cx="7592911" cy="122868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162818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81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583680" y="3438144"/>
            <a:ext cx="3474720" cy="640080"/>
            <a:chOff x="0" y="0"/>
            <a:chExt cx="4632960" cy="8534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Sports Complex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189722" y="3633805"/>
            <a:ext cx="2743200" cy="888839"/>
            <a:chOff x="0" y="0"/>
            <a:chExt cx="3657600" cy="118511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657600" cy="1185118"/>
            </a:xfrm>
            <a:custGeom>
              <a:avLst/>
              <a:gdLst/>
              <a:ahLst/>
              <a:cxnLst/>
              <a:rect r="r" b="b" t="t" l="l"/>
              <a:pathLst>
                <a:path h="118511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270" t="0" r="48395" b="2798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3657600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   🏭 +1   💰 -4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388103" y="4266695"/>
            <a:ext cx="5694683" cy="921515"/>
            <a:chOff x="0" y="0"/>
            <a:chExt cx="7592911" cy="122868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583680" y="4407408"/>
            <a:ext cx="3474720" cy="640080"/>
            <a:chOff x="0" y="0"/>
            <a:chExt cx="4632960" cy="8534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Gyms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235450" y="4531787"/>
            <a:ext cx="2743195" cy="888839"/>
            <a:chOff x="0" y="0"/>
            <a:chExt cx="3657594" cy="118511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657594" cy="1185118"/>
            </a:xfrm>
            <a:custGeom>
              <a:avLst/>
              <a:gdLst/>
              <a:ahLst/>
              <a:cxnLst/>
              <a:rect r="r" b="b" t="t" l="l"/>
              <a:pathLst>
                <a:path h="1185118" w="3657594">
                  <a:moveTo>
                    <a:pt x="0" y="0"/>
                  </a:moveTo>
                  <a:lnTo>
                    <a:pt x="3657594" y="0"/>
                  </a:lnTo>
                  <a:lnTo>
                    <a:pt x="3657594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270" t="0" r="48395" b="2798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3657594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   🏭 +1   💰 -3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388103" y="5235959"/>
            <a:ext cx="5694683" cy="921515"/>
            <a:chOff x="0" y="0"/>
            <a:chExt cx="7592911" cy="122868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162818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81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583680" y="5376672"/>
            <a:ext cx="3474720" cy="640080"/>
            <a:chOff x="0" y="0"/>
            <a:chExt cx="463296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Pools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189718" y="5536410"/>
            <a:ext cx="2743200" cy="888839"/>
            <a:chOff x="0" y="0"/>
            <a:chExt cx="3657600" cy="118511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657600" cy="1185118"/>
            </a:xfrm>
            <a:custGeom>
              <a:avLst/>
              <a:gdLst/>
              <a:ahLst/>
              <a:cxnLst/>
              <a:rect r="r" b="b" t="t" l="l"/>
              <a:pathLst>
                <a:path h="118511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270" t="0" r="48395" b="2798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3657600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   🏭 0   💰 -4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6388103" y="6205223"/>
            <a:ext cx="5694683" cy="921515"/>
            <a:chOff x="0" y="0"/>
            <a:chExt cx="7592911" cy="1228687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6583680" y="6345936"/>
            <a:ext cx="3474720" cy="640080"/>
            <a:chOff x="0" y="0"/>
            <a:chExt cx="4632960" cy="8534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Dog Parks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189718" y="6470315"/>
            <a:ext cx="2651755" cy="888839"/>
            <a:chOff x="0" y="0"/>
            <a:chExt cx="3535674" cy="118511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535674" cy="1185118"/>
            </a:xfrm>
            <a:custGeom>
              <a:avLst/>
              <a:gdLst/>
              <a:ahLst/>
              <a:cxnLst/>
              <a:rect r="r" b="b" t="t" l="l"/>
              <a:pathLst>
                <a:path h="1185118" w="3535674">
                  <a:moveTo>
                    <a:pt x="0" y="0"/>
                  </a:moveTo>
                  <a:lnTo>
                    <a:pt x="3535674" y="0"/>
                  </a:lnTo>
                  <a:lnTo>
                    <a:pt x="3535674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56" t="0" r="46616" b="2798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3535674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   🏭 0   💰 -3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6388103" y="7174487"/>
            <a:ext cx="5694683" cy="921515"/>
            <a:chOff x="0" y="0"/>
            <a:chExt cx="7592911" cy="122868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755904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162818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59282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211707"/>
                  </a:lnTo>
                  <a:cubicBezTo>
                    <a:pt x="7592822" y="1221105"/>
                    <a:pt x="7585202" y="1228598"/>
                    <a:pt x="757593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575931" y="1194816"/>
                  </a:lnTo>
                  <a:lnTo>
                    <a:pt x="7575931" y="1211707"/>
                  </a:lnTo>
                  <a:lnTo>
                    <a:pt x="7559040" y="1211707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818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583680" y="7315200"/>
            <a:ext cx="3474720" cy="640080"/>
            <a:chOff x="0" y="0"/>
            <a:chExt cx="4632960" cy="8534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Skating Rink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144005" y="7439579"/>
            <a:ext cx="2743195" cy="888839"/>
            <a:chOff x="0" y="0"/>
            <a:chExt cx="3657594" cy="118511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657594" cy="1185118"/>
            </a:xfrm>
            <a:custGeom>
              <a:avLst/>
              <a:gdLst/>
              <a:ahLst/>
              <a:cxnLst/>
              <a:rect r="r" b="b" t="t" l="l"/>
              <a:pathLst>
                <a:path h="1185118" w="3657594">
                  <a:moveTo>
                    <a:pt x="0" y="0"/>
                  </a:moveTo>
                  <a:lnTo>
                    <a:pt x="3657594" y="0"/>
                  </a:lnTo>
                  <a:lnTo>
                    <a:pt x="3657594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270" t="0" r="48395" b="2798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657594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   🌿 0   💰 -2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2331703" y="1596647"/>
            <a:ext cx="5511803" cy="683771"/>
            <a:chOff x="0" y="0"/>
            <a:chExt cx="7349071" cy="91169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7315200" cy="877824"/>
            </a:xfrm>
            <a:custGeom>
              <a:avLst/>
              <a:gdLst/>
              <a:ahLst/>
              <a:cxnLst/>
              <a:rect r="r" b="b" t="t" l="l"/>
              <a:pathLst>
                <a:path h="87782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D4860A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7348982" cy="911608"/>
            </a:xfrm>
            <a:custGeom>
              <a:avLst/>
              <a:gdLst/>
              <a:ahLst/>
              <a:cxnLst/>
              <a:rect r="r" b="b" t="t" l="l"/>
              <a:pathLst>
                <a:path h="911608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894715"/>
                  </a:lnTo>
                  <a:cubicBezTo>
                    <a:pt x="7348982" y="904113"/>
                    <a:pt x="7341362" y="911606"/>
                    <a:pt x="73320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332091" y="877824"/>
                  </a:lnTo>
                  <a:lnTo>
                    <a:pt x="7332091" y="894715"/>
                  </a:lnTo>
                  <a:lnTo>
                    <a:pt x="7315200" y="89471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860A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2344400" y="1609344"/>
            <a:ext cx="5486400" cy="658368"/>
            <a:chOff x="0" y="0"/>
            <a:chExt cx="7315200" cy="87782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7315200" cy="877824"/>
            </a:xfrm>
            <a:custGeom>
              <a:avLst/>
              <a:gdLst/>
              <a:ahLst/>
              <a:cxnLst/>
              <a:rect r="r" b="b" t="t" l="l"/>
              <a:pathLst>
                <a:path h="87782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9525"/>
              <a:ext cx="731520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🚨  GROUP E — Safety &amp; Essential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331703" y="2328167"/>
            <a:ext cx="5511803" cy="921515"/>
            <a:chOff x="0" y="0"/>
            <a:chExt cx="7349071" cy="1228687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731520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734898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11707"/>
                  </a:lnTo>
                  <a:cubicBezTo>
                    <a:pt x="7348982" y="1221105"/>
                    <a:pt x="7341362" y="1228598"/>
                    <a:pt x="73320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332091" y="1194816"/>
                  </a:lnTo>
                  <a:lnTo>
                    <a:pt x="7332091" y="1211707"/>
                  </a:lnTo>
                  <a:lnTo>
                    <a:pt x="7315200" y="121170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527280" y="2468880"/>
            <a:ext cx="4023360" cy="640080"/>
            <a:chOff x="0" y="0"/>
            <a:chExt cx="5364480" cy="853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Police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5378436" y="2593259"/>
            <a:ext cx="2360924" cy="888839"/>
            <a:chOff x="0" y="0"/>
            <a:chExt cx="3147898" cy="118511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147898" cy="1185118"/>
            </a:xfrm>
            <a:custGeom>
              <a:avLst/>
              <a:gdLst/>
              <a:ahLst/>
              <a:cxnLst/>
              <a:rect r="r" b="b" t="t" l="l"/>
              <a:pathLst>
                <a:path h="1185118" w="3147898">
                  <a:moveTo>
                    <a:pt x="0" y="0"/>
                  </a:moveTo>
                  <a:lnTo>
                    <a:pt x="3147898" y="0"/>
                  </a:lnTo>
                  <a:lnTo>
                    <a:pt x="3147898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46" t="0" r="41976" b="27986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3147898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+6   🏭 +1   💰 -4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2331703" y="3297431"/>
            <a:ext cx="5511803" cy="921515"/>
            <a:chOff x="0" y="0"/>
            <a:chExt cx="7349071" cy="1228687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731520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162818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4898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11707"/>
                  </a:lnTo>
                  <a:cubicBezTo>
                    <a:pt x="7348982" y="1221105"/>
                    <a:pt x="7341362" y="1228598"/>
                    <a:pt x="73320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332091" y="1194816"/>
                  </a:lnTo>
                  <a:lnTo>
                    <a:pt x="7332091" y="1211707"/>
                  </a:lnTo>
                  <a:lnTo>
                    <a:pt x="7315200" y="121170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818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2527280" y="3438144"/>
            <a:ext cx="4023360" cy="640080"/>
            <a:chOff x="0" y="0"/>
            <a:chExt cx="5364480" cy="85344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 Brigade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5378436" y="3562523"/>
            <a:ext cx="2360924" cy="888839"/>
            <a:chOff x="0" y="0"/>
            <a:chExt cx="3147898" cy="118511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3147898" cy="1185118"/>
            </a:xfrm>
            <a:custGeom>
              <a:avLst/>
              <a:gdLst/>
              <a:ahLst/>
              <a:cxnLst/>
              <a:rect r="r" b="b" t="t" l="l"/>
              <a:pathLst>
                <a:path h="1185118" w="3147898">
                  <a:moveTo>
                    <a:pt x="0" y="0"/>
                  </a:moveTo>
                  <a:lnTo>
                    <a:pt x="3147898" y="0"/>
                  </a:lnTo>
                  <a:lnTo>
                    <a:pt x="3147898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46" t="0" r="41976" b="27986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3147898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+8   🏭+ 1   💰 -5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2331703" y="4266695"/>
            <a:ext cx="5511803" cy="921515"/>
            <a:chOff x="0" y="0"/>
            <a:chExt cx="7349071" cy="1228687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731520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734898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11707"/>
                  </a:lnTo>
                  <a:cubicBezTo>
                    <a:pt x="7348982" y="1221105"/>
                    <a:pt x="7341362" y="1228598"/>
                    <a:pt x="73320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332091" y="1194816"/>
                  </a:lnTo>
                  <a:lnTo>
                    <a:pt x="7332091" y="1211707"/>
                  </a:lnTo>
                  <a:lnTo>
                    <a:pt x="7315200" y="121170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2527280" y="4407408"/>
            <a:ext cx="4023360" cy="640080"/>
            <a:chOff x="0" y="0"/>
            <a:chExt cx="5364480" cy="85344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Crisis Shelters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5378436" y="4531787"/>
            <a:ext cx="2360924" cy="888839"/>
            <a:chOff x="0" y="0"/>
            <a:chExt cx="3147898" cy="118511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3147898" cy="1185118"/>
            </a:xfrm>
            <a:custGeom>
              <a:avLst/>
              <a:gdLst/>
              <a:ahLst/>
              <a:cxnLst/>
              <a:rect r="r" b="b" t="t" l="l"/>
              <a:pathLst>
                <a:path h="1185118" w="3147898">
                  <a:moveTo>
                    <a:pt x="0" y="0"/>
                  </a:moveTo>
                  <a:lnTo>
                    <a:pt x="3147898" y="0"/>
                  </a:lnTo>
                  <a:lnTo>
                    <a:pt x="3147898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46" t="0" r="41976" b="27986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3147898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   🏭 +1  💰 -2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2331703" y="5235959"/>
            <a:ext cx="5511803" cy="921515"/>
            <a:chOff x="0" y="0"/>
            <a:chExt cx="7349071" cy="1228687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731520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162818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734898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11707"/>
                  </a:lnTo>
                  <a:cubicBezTo>
                    <a:pt x="7348982" y="1221105"/>
                    <a:pt x="7341362" y="1228598"/>
                    <a:pt x="73320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332091" y="1194816"/>
                  </a:lnTo>
                  <a:lnTo>
                    <a:pt x="7332091" y="1211707"/>
                  </a:lnTo>
                  <a:lnTo>
                    <a:pt x="7315200" y="121170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818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2527280" y="5376672"/>
            <a:ext cx="4023360" cy="640080"/>
            <a:chOff x="0" y="0"/>
            <a:chExt cx="5364480" cy="853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Homeless Shelters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5378436" y="5501051"/>
            <a:ext cx="2360924" cy="888839"/>
            <a:chOff x="0" y="0"/>
            <a:chExt cx="3147898" cy="1185118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147898" cy="1185118"/>
            </a:xfrm>
            <a:custGeom>
              <a:avLst/>
              <a:gdLst/>
              <a:ahLst/>
              <a:cxnLst/>
              <a:rect r="r" b="b" t="t" l="l"/>
              <a:pathLst>
                <a:path h="1185118" w="3147898">
                  <a:moveTo>
                    <a:pt x="0" y="0"/>
                  </a:moveTo>
                  <a:lnTo>
                    <a:pt x="3147898" y="0"/>
                  </a:lnTo>
                  <a:lnTo>
                    <a:pt x="3147898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46" t="0" r="41976" b="27986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3147898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   🏭 0   💰 -3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2331703" y="6205223"/>
            <a:ext cx="5511803" cy="921515"/>
            <a:chOff x="0" y="0"/>
            <a:chExt cx="7349071" cy="1228687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16891" y="16891"/>
              <a:ext cx="731520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734898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11707"/>
                  </a:lnTo>
                  <a:cubicBezTo>
                    <a:pt x="7348982" y="1221105"/>
                    <a:pt x="7341362" y="1228598"/>
                    <a:pt x="73320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332091" y="1194816"/>
                  </a:lnTo>
                  <a:lnTo>
                    <a:pt x="7332091" y="1211707"/>
                  </a:lnTo>
                  <a:lnTo>
                    <a:pt x="7315200" y="121170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2527280" y="6345936"/>
            <a:ext cx="4023360" cy="640080"/>
            <a:chOff x="0" y="0"/>
            <a:chExt cx="5364480" cy="85344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Emergency Sirens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5378436" y="6470315"/>
            <a:ext cx="2360924" cy="888839"/>
            <a:chOff x="0" y="0"/>
            <a:chExt cx="3147898" cy="118511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147898" cy="1185118"/>
            </a:xfrm>
            <a:custGeom>
              <a:avLst/>
              <a:gdLst/>
              <a:ahLst/>
              <a:cxnLst/>
              <a:rect r="r" b="b" t="t" l="l"/>
              <a:pathLst>
                <a:path h="1185118" w="3147898">
                  <a:moveTo>
                    <a:pt x="0" y="0"/>
                  </a:moveTo>
                  <a:lnTo>
                    <a:pt x="3147898" y="0"/>
                  </a:lnTo>
                  <a:lnTo>
                    <a:pt x="3147898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46" t="0" r="41976" b="27986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3147898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   🏭 0   💰 -1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2331703" y="7174487"/>
            <a:ext cx="5511803" cy="921515"/>
            <a:chOff x="0" y="0"/>
            <a:chExt cx="7349071" cy="1228687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731520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162818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734898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11707"/>
                  </a:lnTo>
                  <a:cubicBezTo>
                    <a:pt x="7348982" y="1221105"/>
                    <a:pt x="7341362" y="1228598"/>
                    <a:pt x="73320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332091" y="1194816"/>
                  </a:lnTo>
                  <a:lnTo>
                    <a:pt x="7332091" y="1211707"/>
                  </a:lnTo>
                  <a:lnTo>
                    <a:pt x="7315200" y="121170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818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2527280" y="7315200"/>
            <a:ext cx="4023360" cy="640080"/>
            <a:chOff x="0" y="0"/>
            <a:chExt cx="5364480" cy="85344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Street Lights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5378436" y="7439579"/>
            <a:ext cx="2360924" cy="888839"/>
            <a:chOff x="0" y="0"/>
            <a:chExt cx="3147898" cy="118511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47898" cy="1185118"/>
            </a:xfrm>
            <a:custGeom>
              <a:avLst/>
              <a:gdLst/>
              <a:ahLst/>
              <a:cxnLst/>
              <a:rect r="r" b="b" t="t" l="l"/>
              <a:pathLst>
                <a:path h="1185118" w="3147898">
                  <a:moveTo>
                    <a:pt x="0" y="0"/>
                  </a:moveTo>
                  <a:lnTo>
                    <a:pt x="3147898" y="0"/>
                  </a:lnTo>
                  <a:lnTo>
                    <a:pt x="3147898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46" t="0" r="41976" b="27986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3147898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+2   🏭 +1   💰 -1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2331703" y="8143751"/>
            <a:ext cx="5511803" cy="921515"/>
            <a:chOff x="0" y="0"/>
            <a:chExt cx="7349071" cy="1228687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16891" y="16891"/>
              <a:ext cx="7315200" cy="1194816"/>
            </a:xfrm>
            <a:custGeom>
              <a:avLst/>
              <a:gdLst/>
              <a:ahLst/>
              <a:cxnLst/>
              <a:rect r="r" b="b" t="t" l="l"/>
              <a:pathLst>
                <a:path h="119481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7348982" cy="1228600"/>
            </a:xfrm>
            <a:custGeom>
              <a:avLst/>
              <a:gdLst/>
              <a:ahLst/>
              <a:cxnLst/>
              <a:rect r="r" b="b" t="t" l="l"/>
              <a:pathLst>
                <a:path h="122860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11707"/>
                  </a:lnTo>
                  <a:cubicBezTo>
                    <a:pt x="7348982" y="1221105"/>
                    <a:pt x="7341362" y="1228598"/>
                    <a:pt x="73320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7332091" y="1194816"/>
                  </a:lnTo>
                  <a:lnTo>
                    <a:pt x="7332091" y="1211707"/>
                  </a:lnTo>
                  <a:lnTo>
                    <a:pt x="7315200" y="121170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2527280" y="8284464"/>
            <a:ext cx="4023360" cy="640080"/>
            <a:chOff x="0" y="0"/>
            <a:chExt cx="5364480" cy="85344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Fountains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5378436" y="8408843"/>
            <a:ext cx="2360924" cy="888839"/>
            <a:chOff x="0" y="0"/>
            <a:chExt cx="3147898" cy="118511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47898" cy="1185118"/>
            </a:xfrm>
            <a:custGeom>
              <a:avLst/>
              <a:gdLst/>
              <a:ahLst/>
              <a:cxnLst/>
              <a:rect r="r" b="b" t="t" l="l"/>
              <a:pathLst>
                <a:path h="1185118" w="3147898">
                  <a:moveTo>
                    <a:pt x="0" y="0"/>
                  </a:moveTo>
                  <a:lnTo>
                    <a:pt x="3147898" y="0"/>
                  </a:lnTo>
                  <a:lnTo>
                    <a:pt x="3147898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46" t="0" r="41976" b="27986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3147898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   🏭 0   💰 -2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Industries and resources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907543"/>
            <a:ext cx="7889243" cy="848363"/>
            <a:chOff x="0" y="0"/>
            <a:chExt cx="1051899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E3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920240"/>
            <a:ext cx="7863840" cy="822960"/>
            <a:chOff x="0" y="0"/>
            <a:chExt cx="1048512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4851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</a:t>
              </a:r>
              <a:r>
                <a:rPr lang="en-US" sz="21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Group A: Heavy Industry &amp; Manufacturing</a:t>
              </a:r>
            </a:p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913383"/>
            <a:ext cx="7889243" cy="903227"/>
            <a:chOff x="0" y="0"/>
            <a:chExt cx="10518991" cy="12043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3035808"/>
            <a:ext cx="3657600" cy="640080"/>
            <a:chOff x="0" y="0"/>
            <a:chExt cx="48768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Petrochemical Refineries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89120" y="3035808"/>
            <a:ext cx="1280160" cy="640080"/>
            <a:chOff x="0" y="0"/>
            <a:chExt cx="170688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+8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760720" y="3035808"/>
            <a:ext cx="1280160" cy="640080"/>
            <a:chOff x="0" y="0"/>
            <a:chExt cx="170688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32320" y="3035808"/>
            <a:ext cx="1097280" cy="640080"/>
            <a:chOff x="0" y="0"/>
            <a:chExt cx="146304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5943" y="3864359"/>
            <a:ext cx="7889243" cy="903227"/>
            <a:chOff x="0" y="0"/>
            <a:chExt cx="10518991" cy="12043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1520" y="3986784"/>
            <a:ext cx="3657600" cy="640080"/>
            <a:chOff x="0" y="0"/>
            <a:chExt cx="4876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Meta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 Refineries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389120" y="3986784"/>
            <a:ext cx="1280160" cy="640080"/>
            <a:chOff x="0" y="0"/>
            <a:chExt cx="170688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+7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60720" y="3986784"/>
            <a:ext cx="1280160" cy="640080"/>
            <a:chOff x="0" y="0"/>
            <a:chExt cx="170688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🏭+7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32320" y="3986784"/>
            <a:ext cx="1097280" cy="640080"/>
            <a:chOff x="0" y="0"/>
            <a:chExt cx="146304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5943" y="4815335"/>
            <a:ext cx="7889243" cy="903227"/>
            <a:chOff x="0" y="0"/>
            <a:chExt cx="10518991" cy="12043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31520" y="4937760"/>
            <a:ext cx="3657600" cy="640080"/>
            <a:chOff x="0" y="0"/>
            <a:chExt cx="487680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oundries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389120" y="4937760"/>
            <a:ext cx="1280160" cy="640080"/>
            <a:chOff x="0" y="0"/>
            <a:chExt cx="170688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760720" y="4937760"/>
            <a:ext cx="1280160" cy="640080"/>
            <a:chOff x="0" y="0"/>
            <a:chExt cx="170688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🏭+6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32320" y="4937760"/>
            <a:ext cx="1097280" cy="640080"/>
            <a:chOff x="0" y="0"/>
            <a:chExt cx="146304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5766311"/>
            <a:ext cx="7889243" cy="903227"/>
            <a:chOff x="0" y="0"/>
            <a:chExt cx="10518991" cy="12043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31520" y="5888736"/>
            <a:ext cx="3657600" cy="640080"/>
            <a:chOff x="0" y="0"/>
            <a:chExt cx="487680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Cemet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389120" y="5888736"/>
            <a:ext cx="1280160" cy="640080"/>
            <a:chOff x="0" y="0"/>
            <a:chExt cx="170688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760720" y="5888736"/>
            <a:ext cx="1280160" cy="640080"/>
            <a:chOff x="0" y="0"/>
            <a:chExt cx="170688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132320" y="5888736"/>
            <a:ext cx="1097280" cy="640080"/>
            <a:chOff x="0" y="0"/>
            <a:chExt cx="146304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35943" y="6717287"/>
            <a:ext cx="7889243" cy="903227"/>
            <a:chOff x="0" y="0"/>
            <a:chExt cx="10518991" cy="120430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31520" y="6839712"/>
            <a:ext cx="3657600" cy="640080"/>
            <a:chOff x="0" y="0"/>
            <a:chExt cx="487680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Glass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389120" y="6839712"/>
            <a:ext cx="1280160" cy="640080"/>
            <a:chOff x="0" y="0"/>
            <a:chExt cx="170688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+7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760720" y="6839712"/>
            <a:ext cx="1280160" cy="640080"/>
            <a:chOff x="0" y="0"/>
            <a:chExt cx="1706880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🏭+5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132320" y="6839712"/>
            <a:ext cx="1097280" cy="640080"/>
            <a:chOff x="0" y="0"/>
            <a:chExt cx="1463040" cy="853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35943" y="7668263"/>
            <a:ext cx="7889243" cy="903227"/>
            <a:chOff x="0" y="0"/>
            <a:chExt cx="10518991" cy="120430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31520" y="7790688"/>
            <a:ext cx="3657600" cy="640080"/>
            <a:chOff x="0" y="0"/>
            <a:chExt cx="4876800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389120" y="7790688"/>
            <a:ext cx="1280160" cy="640080"/>
            <a:chOff x="0" y="0"/>
            <a:chExt cx="1706880" cy="8534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+8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760720" y="7790688"/>
            <a:ext cx="1280160" cy="640080"/>
            <a:chOff x="0" y="0"/>
            <a:chExt cx="170688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🏭+6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132320" y="7790688"/>
            <a:ext cx="1097280" cy="640080"/>
            <a:chOff x="0" y="0"/>
            <a:chExt cx="1463040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+6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35943" y="8619239"/>
            <a:ext cx="7889243" cy="903227"/>
            <a:chOff x="0" y="0"/>
            <a:chExt cx="10518991" cy="120430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31520" y="8741664"/>
            <a:ext cx="3657600" cy="640080"/>
            <a:chOff x="0" y="0"/>
            <a:chExt cx="4876800" cy="8534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Heavy Machinery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389120" y="8741664"/>
            <a:ext cx="1280160" cy="640080"/>
            <a:chOff x="0" y="0"/>
            <a:chExt cx="1706880" cy="8534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760720" y="8741664"/>
            <a:ext cx="1280160" cy="640080"/>
            <a:chOff x="0" y="0"/>
            <a:chExt cx="170688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🏭+4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7132320" y="8741664"/>
            <a:ext cx="1097280" cy="640080"/>
            <a:chOff x="0" y="0"/>
            <a:chExt cx="1463040" cy="8534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314183" y="1907543"/>
            <a:ext cx="8437883" cy="848363"/>
            <a:chOff x="0" y="0"/>
            <a:chExt cx="11250511" cy="113115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6B8A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1250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14171"/>
                  </a:lnTo>
                  <a:cubicBezTo>
                    <a:pt x="11250422" y="1123569"/>
                    <a:pt x="11242802" y="1131062"/>
                    <a:pt x="11233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233531" y="1097280"/>
                  </a:lnTo>
                  <a:lnTo>
                    <a:pt x="11233531" y="1114171"/>
                  </a:lnTo>
                  <a:lnTo>
                    <a:pt x="11216640" y="11141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326880" y="1920240"/>
            <a:ext cx="8412480" cy="822960"/>
            <a:chOff x="0" y="0"/>
            <a:chExt cx="11216640" cy="109728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180" r="0" b="-14918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112166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</a:t>
              </a:r>
              <a:r>
                <a:rPr lang="en-US" sz="21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Group A: Heavy Industry &amp; Manufacturing</a:t>
              </a:r>
            </a:p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14183" y="2913383"/>
            <a:ext cx="8437883" cy="903227"/>
            <a:chOff x="0" y="0"/>
            <a:chExt cx="11250511" cy="120430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509760" y="3035808"/>
            <a:ext cx="4023360" cy="640080"/>
            <a:chOff x="0" y="0"/>
            <a:chExt cx="5364480" cy="8534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Textile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624560" y="3035808"/>
            <a:ext cx="1280160" cy="640080"/>
            <a:chOff x="0" y="0"/>
            <a:chExt cx="1706880" cy="8534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+5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4959584" y="3035808"/>
            <a:ext cx="1280160" cy="640080"/>
            <a:chOff x="0" y="0"/>
            <a:chExt cx="1706880" cy="853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6276320" y="3035808"/>
            <a:ext cx="1280160" cy="640080"/>
            <a:chOff x="0" y="0"/>
            <a:chExt cx="1706880" cy="853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+6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314183" y="3864359"/>
            <a:ext cx="8437883" cy="903227"/>
            <a:chOff x="0" y="0"/>
            <a:chExt cx="11250511" cy="1204303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509760" y="3986784"/>
            <a:ext cx="4023360" cy="640080"/>
            <a:chOff x="0" y="0"/>
            <a:chExt cx="5364480" cy="853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umer Goods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3624560" y="3986784"/>
            <a:ext cx="1280160" cy="640080"/>
            <a:chOff x="0" y="0"/>
            <a:chExt cx="1706880" cy="853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+4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4959584" y="3986784"/>
            <a:ext cx="1280160" cy="640080"/>
            <a:chOff x="0" y="0"/>
            <a:chExt cx="1706880" cy="853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6276320" y="3986784"/>
            <a:ext cx="1280160" cy="640080"/>
            <a:chOff x="0" y="0"/>
            <a:chExt cx="1706880" cy="8534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314183" y="4815335"/>
            <a:ext cx="8437883" cy="903227"/>
            <a:chOff x="0" y="0"/>
            <a:chExt cx="11250511" cy="1204303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509760" y="4937760"/>
            <a:ext cx="4023360" cy="640080"/>
            <a:chOff x="0" y="0"/>
            <a:chExt cx="5364480" cy="85344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Rare 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Earth Processing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3624560" y="4937760"/>
            <a:ext cx="1280160" cy="640080"/>
            <a:chOff x="0" y="0"/>
            <a:chExt cx="1706880" cy="85344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+9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4959584" y="4937760"/>
            <a:ext cx="1280160" cy="640080"/>
            <a:chOff x="0" y="0"/>
            <a:chExt cx="1706880" cy="85344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🏭+6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6276320" y="4937760"/>
            <a:ext cx="1280160" cy="640080"/>
            <a:chOff x="0" y="0"/>
            <a:chExt cx="1706880" cy="85344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326880" y="5766311"/>
            <a:ext cx="8437883" cy="903227"/>
            <a:chOff x="0" y="0"/>
            <a:chExt cx="11250511" cy="1204303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522457" y="5888736"/>
            <a:ext cx="4023360" cy="640080"/>
            <a:chOff x="0" y="0"/>
            <a:chExt cx="5364480" cy="853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eet Metal Forming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3637257" y="5888736"/>
            <a:ext cx="1280160" cy="640080"/>
            <a:chOff x="0" y="0"/>
            <a:chExt cx="1706880" cy="853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+4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4972281" y="5888736"/>
            <a:ext cx="1280160" cy="640080"/>
            <a:chOff x="0" y="0"/>
            <a:chExt cx="1706880" cy="85344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6289017" y="5888736"/>
            <a:ext cx="1280160" cy="640080"/>
            <a:chOff x="0" y="0"/>
            <a:chExt cx="1706880" cy="85344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9326880" y="6717287"/>
            <a:ext cx="8437883" cy="903227"/>
            <a:chOff x="0" y="0"/>
            <a:chExt cx="11250511" cy="1204303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9522457" y="6839712"/>
            <a:ext cx="4023360" cy="640080"/>
            <a:chOff x="0" y="0"/>
            <a:chExt cx="5364480" cy="85344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Ceramics F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actory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637257" y="6839712"/>
            <a:ext cx="1280160" cy="640080"/>
            <a:chOff x="0" y="0"/>
            <a:chExt cx="1706880" cy="85344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+3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4972281" y="6839712"/>
            <a:ext cx="1280160" cy="640080"/>
            <a:chOff x="0" y="0"/>
            <a:chExt cx="1706880" cy="85344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6289017" y="6839712"/>
            <a:ext cx="1280160" cy="640080"/>
            <a:chOff x="0" y="0"/>
            <a:chExt cx="1706880" cy="85344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9326880" y="7692138"/>
            <a:ext cx="8437883" cy="903227"/>
            <a:chOff x="0" y="0"/>
            <a:chExt cx="11250511" cy="1204303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9522457" y="7814562"/>
            <a:ext cx="4023360" cy="640080"/>
            <a:chOff x="0" y="0"/>
            <a:chExt cx="5364480" cy="853440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Machin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 Tools Industry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13637257" y="7814562"/>
            <a:ext cx="1280160" cy="640080"/>
            <a:chOff x="0" y="0"/>
            <a:chExt cx="1706880" cy="853440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+4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14972281" y="7814562"/>
            <a:ext cx="1280160" cy="640080"/>
            <a:chOff x="0" y="0"/>
            <a:chExt cx="1706880" cy="85344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6289017" y="7814562"/>
            <a:ext cx="1280160" cy="640080"/>
            <a:chOff x="0" y="0"/>
            <a:chExt cx="1706880" cy="853440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+2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9326880" y="8643114"/>
            <a:ext cx="8437883" cy="903227"/>
            <a:chOff x="0" y="0"/>
            <a:chExt cx="11250511" cy="1204303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22457" y="8765538"/>
            <a:ext cx="4023360" cy="640080"/>
            <a:chOff x="0" y="0"/>
            <a:chExt cx="5364480" cy="853440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Electronic Indus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tries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13637257" y="8765538"/>
            <a:ext cx="1280160" cy="640080"/>
            <a:chOff x="0" y="0"/>
            <a:chExt cx="1706880" cy="853440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+5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14972281" y="8765538"/>
            <a:ext cx="1280160" cy="640080"/>
            <a:chOff x="0" y="0"/>
            <a:chExt cx="1706880" cy="853440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🏭+3</a:t>
              </a:r>
            </a:p>
          </p:txBody>
        </p:sp>
      </p:grpSp>
      <p:grpSp>
        <p:nvGrpSpPr>
          <p:cNvPr name="Group 230" id="230"/>
          <p:cNvGrpSpPr/>
          <p:nvPr/>
        </p:nvGrpSpPr>
        <p:grpSpPr>
          <a:xfrm rot="0">
            <a:off x="16289017" y="8765538"/>
            <a:ext cx="1280160" cy="640080"/>
            <a:chOff x="0" y="0"/>
            <a:chExt cx="1706880" cy="853440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Industries and resources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907543"/>
            <a:ext cx="7889243" cy="848363"/>
            <a:chOff x="0" y="0"/>
            <a:chExt cx="1051899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E3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920240"/>
            <a:ext cx="7863840" cy="822960"/>
            <a:chOff x="0" y="0"/>
            <a:chExt cx="1048512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4851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Group B: Tech, Finance &amp; Innovation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913383"/>
            <a:ext cx="7889243" cy="903227"/>
            <a:chOff x="0" y="0"/>
            <a:chExt cx="10518991" cy="12043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3035808"/>
            <a:ext cx="3657600" cy="640080"/>
            <a:chOff x="0" y="0"/>
            <a:chExt cx="48768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tock Exchange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89120" y="3035808"/>
            <a:ext cx="1280160" cy="640080"/>
            <a:chOff x="0" y="0"/>
            <a:chExt cx="170688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+9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760720" y="3035808"/>
            <a:ext cx="1280160" cy="640080"/>
            <a:chOff x="0" y="0"/>
            <a:chExt cx="170688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32320" y="3035808"/>
            <a:ext cx="1097280" cy="640080"/>
            <a:chOff x="0" y="0"/>
            <a:chExt cx="146304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5943" y="3864359"/>
            <a:ext cx="7889243" cy="903227"/>
            <a:chOff x="0" y="0"/>
            <a:chExt cx="10518991" cy="12043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1520" y="3986784"/>
            <a:ext cx="3657600" cy="640080"/>
            <a:chOff x="0" y="0"/>
            <a:chExt cx="4876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Company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389120" y="3986784"/>
            <a:ext cx="1280160" cy="640080"/>
            <a:chOff x="0" y="0"/>
            <a:chExt cx="170688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+8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60720" y="3986784"/>
            <a:ext cx="1280160" cy="640080"/>
            <a:chOff x="0" y="0"/>
            <a:chExt cx="170688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32320" y="3986784"/>
            <a:ext cx="1097280" cy="640080"/>
            <a:chOff x="0" y="0"/>
            <a:chExt cx="146304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+6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5943" y="4815335"/>
            <a:ext cx="7889243" cy="903227"/>
            <a:chOff x="0" y="0"/>
            <a:chExt cx="10518991" cy="12043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31520" y="4937760"/>
            <a:ext cx="3657600" cy="640080"/>
            <a:chOff x="0" y="0"/>
            <a:chExt cx="487680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Ce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nters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389120" y="4937760"/>
            <a:ext cx="1280160" cy="640080"/>
            <a:chOff x="0" y="0"/>
            <a:chExt cx="170688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760720" y="4937760"/>
            <a:ext cx="1280160" cy="640080"/>
            <a:chOff x="0" y="0"/>
            <a:chExt cx="170688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32320" y="4937760"/>
            <a:ext cx="1097280" cy="640080"/>
            <a:chOff x="0" y="0"/>
            <a:chExt cx="146304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5766311"/>
            <a:ext cx="7889243" cy="903227"/>
            <a:chOff x="0" y="0"/>
            <a:chExt cx="10518991" cy="12043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31520" y="5888736"/>
            <a:ext cx="3657600" cy="640080"/>
            <a:chOff x="0" y="0"/>
            <a:chExt cx="487680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Quantum Hubs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389120" y="5888736"/>
            <a:ext cx="1280160" cy="640080"/>
            <a:chOff x="0" y="0"/>
            <a:chExt cx="170688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760720" y="5888736"/>
            <a:ext cx="1280160" cy="640080"/>
            <a:chOff x="0" y="0"/>
            <a:chExt cx="170688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132320" y="5888736"/>
            <a:ext cx="1097280" cy="640080"/>
            <a:chOff x="0" y="0"/>
            <a:chExt cx="146304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35943" y="6717287"/>
            <a:ext cx="7889243" cy="903227"/>
            <a:chOff x="0" y="0"/>
            <a:chExt cx="10518991" cy="120430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31520" y="6839712"/>
            <a:ext cx="3657600" cy="640080"/>
            <a:chOff x="0" y="0"/>
            <a:chExt cx="487680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Semiconductor Fabrication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389120" y="6839712"/>
            <a:ext cx="1280160" cy="640080"/>
            <a:chOff x="0" y="0"/>
            <a:chExt cx="170688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+9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760720" y="6839712"/>
            <a:ext cx="1280160" cy="640080"/>
            <a:chOff x="0" y="0"/>
            <a:chExt cx="1706880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🏭+5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132320" y="6839712"/>
            <a:ext cx="1097280" cy="640080"/>
            <a:chOff x="0" y="0"/>
            <a:chExt cx="1463040" cy="853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+6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35943" y="7668263"/>
            <a:ext cx="7889243" cy="903227"/>
            <a:chOff x="0" y="0"/>
            <a:chExt cx="10518991" cy="120430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31520" y="7790688"/>
            <a:ext cx="3657600" cy="640080"/>
            <a:chOff x="0" y="0"/>
            <a:chExt cx="4876800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Incubators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389120" y="7790688"/>
            <a:ext cx="1280160" cy="640080"/>
            <a:chOff x="0" y="0"/>
            <a:chExt cx="1706880" cy="8534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+7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760720" y="7790688"/>
            <a:ext cx="1280160" cy="640080"/>
            <a:chOff x="0" y="0"/>
            <a:chExt cx="170688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🏭+3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132320" y="7790688"/>
            <a:ext cx="1097280" cy="640080"/>
            <a:chOff x="0" y="0"/>
            <a:chExt cx="1463040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+6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314183" y="1907543"/>
            <a:ext cx="8437883" cy="848363"/>
            <a:chOff x="0" y="0"/>
            <a:chExt cx="11250511" cy="113115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6B8A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250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14171"/>
                  </a:lnTo>
                  <a:cubicBezTo>
                    <a:pt x="11250422" y="1123569"/>
                    <a:pt x="11242802" y="1131062"/>
                    <a:pt x="11233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233531" y="1097280"/>
                  </a:lnTo>
                  <a:lnTo>
                    <a:pt x="11233531" y="1114171"/>
                  </a:lnTo>
                  <a:lnTo>
                    <a:pt x="11216640" y="11141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326880" y="1920240"/>
            <a:ext cx="8412480" cy="822960"/>
            <a:chOff x="0" y="0"/>
            <a:chExt cx="11216640" cy="10972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180" r="0" b="-14918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112166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Group B: Tech, Finance &amp; Innovation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314183" y="2913383"/>
            <a:ext cx="8437883" cy="903227"/>
            <a:chOff x="0" y="0"/>
            <a:chExt cx="11250511" cy="120430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490710" y="3035808"/>
            <a:ext cx="4023360" cy="640080"/>
            <a:chOff x="0" y="0"/>
            <a:chExt cx="536448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Cyber Centers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624560" y="3035808"/>
            <a:ext cx="1280160" cy="640080"/>
            <a:chOff x="0" y="0"/>
            <a:chExt cx="1706880" cy="8534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4959584" y="3035808"/>
            <a:ext cx="1280160" cy="640080"/>
            <a:chOff x="0" y="0"/>
            <a:chExt cx="1706880" cy="85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🏭+3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6276320" y="3035808"/>
            <a:ext cx="1280160" cy="640080"/>
            <a:chOff x="0" y="0"/>
            <a:chExt cx="1706880" cy="8534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14183" y="3864359"/>
            <a:ext cx="8437883" cy="903227"/>
            <a:chOff x="0" y="0"/>
            <a:chExt cx="11250511" cy="120430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509760" y="3986784"/>
            <a:ext cx="4023360" cy="640080"/>
            <a:chOff x="0" y="0"/>
            <a:chExt cx="5364480" cy="8534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Special Econo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 Zones (SEZ)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624560" y="3986784"/>
            <a:ext cx="1280160" cy="640080"/>
            <a:chOff x="0" y="0"/>
            <a:chExt cx="1706880" cy="8534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4959584" y="3986784"/>
            <a:ext cx="1280160" cy="640080"/>
            <a:chOff x="0" y="0"/>
            <a:chExt cx="1706880" cy="853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🏭+5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6276320" y="3986784"/>
            <a:ext cx="1280160" cy="640080"/>
            <a:chOff x="0" y="0"/>
            <a:chExt cx="1706880" cy="853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314183" y="4815335"/>
            <a:ext cx="8437883" cy="903227"/>
            <a:chOff x="0" y="0"/>
            <a:chExt cx="11250511" cy="1204303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490710" y="4937760"/>
            <a:ext cx="4023360" cy="640080"/>
            <a:chOff x="0" y="0"/>
            <a:chExt cx="5364480" cy="853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Industrial Testing Labs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3624560" y="4937760"/>
            <a:ext cx="1280160" cy="640080"/>
            <a:chOff x="0" y="0"/>
            <a:chExt cx="1706880" cy="853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+4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4959584" y="4937760"/>
            <a:ext cx="1280160" cy="640080"/>
            <a:chOff x="0" y="0"/>
            <a:chExt cx="1706880" cy="853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6276320" y="4937760"/>
            <a:ext cx="1280160" cy="640080"/>
            <a:chOff x="0" y="0"/>
            <a:chExt cx="1706880" cy="8534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314183" y="5766311"/>
            <a:ext cx="8437883" cy="903227"/>
            <a:chOff x="0" y="0"/>
            <a:chExt cx="11250511" cy="1204303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509760" y="5888736"/>
            <a:ext cx="4023360" cy="640080"/>
            <a:chOff x="0" y="0"/>
            <a:chExt cx="5364480" cy="85344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Teleco</a:t>
              </a: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 Infrastructure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3624560" y="5888736"/>
            <a:ext cx="1280160" cy="640080"/>
            <a:chOff x="0" y="0"/>
            <a:chExt cx="1706880" cy="85344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4959584" y="5888736"/>
            <a:ext cx="1280160" cy="640080"/>
            <a:chOff x="0" y="0"/>
            <a:chExt cx="1706880" cy="85344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🏭+3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6276320" y="5888736"/>
            <a:ext cx="1280160" cy="640080"/>
            <a:chOff x="0" y="0"/>
            <a:chExt cx="1706880" cy="85344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314183" y="6765036"/>
            <a:ext cx="8437883" cy="903227"/>
            <a:chOff x="0" y="0"/>
            <a:chExt cx="11250511" cy="1204303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490710" y="6887461"/>
            <a:ext cx="4023360" cy="640080"/>
            <a:chOff x="0" y="0"/>
            <a:chExt cx="5364480" cy="853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Pharmaceuticals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3624560" y="6887461"/>
            <a:ext cx="1280160" cy="640080"/>
            <a:chOff x="0" y="0"/>
            <a:chExt cx="1706880" cy="853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+4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4959584" y="6887461"/>
            <a:ext cx="1280160" cy="640080"/>
            <a:chOff x="0" y="0"/>
            <a:chExt cx="1706880" cy="85344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6276320" y="6887461"/>
            <a:ext cx="1280160" cy="640080"/>
            <a:chOff x="0" y="0"/>
            <a:chExt cx="1706880" cy="85344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+4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9314183" y="7715888"/>
            <a:ext cx="8437883" cy="903227"/>
            <a:chOff x="0" y="0"/>
            <a:chExt cx="11250511" cy="1204303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9509760" y="7838313"/>
            <a:ext cx="4023360" cy="640080"/>
            <a:chOff x="0" y="0"/>
            <a:chExt cx="5364480" cy="85344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Vocatio</a:t>
              </a: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nal Training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624560" y="7838313"/>
            <a:ext cx="1280160" cy="640080"/>
            <a:chOff x="0" y="0"/>
            <a:chExt cx="1706880" cy="85344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4959584" y="7838313"/>
            <a:ext cx="1280160" cy="640080"/>
            <a:chOff x="0" y="0"/>
            <a:chExt cx="1706880" cy="85344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🏭+3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6276320" y="7838313"/>
            <a:ext cx="1280160" cy="640080"/>
            <a:chOff x="0" y="0"/>
            <a:chExt cx="1706880" cy="85344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Industries and resources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907543"/>
            <a:ext cx="7889243" cy="848363"/>
            <a:chOff x="0" y="0"/>
            <a:chExt cx="1051899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E3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920240"/>
            <a:ext cx="7863840" cy="822960"/>
            <a:chOff x="0" y="0"/>
            <a:chExt cx="1048512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4851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Group C: Green Industry &amp; Circular Economy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913383"/>
            <a:ext cx="7889243" cy="903227"/>
            <a:chOff x="0" y="0"/>
            <a:chExt cx="10518991" cy="12043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3035808"/>
            <a:ext cx="3657600" cy="640080"/>
            <a:chOff x="0" y="0"/>
            <a:chExt cx="48768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Bio-Gas Bot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tling Plants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89120" y="3035808"/>
            <a:ext cx="1280160" cy="640080"/>
            <a:chOff x="0" y="0"/>
            <a:chExt cx="170688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760720" y="3035808"/>
            <a:ext cx="1280160" cy="640080"/>
            <a:chOff x="0" y="0"/>
            <a:chExt cx="170688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🏭-3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32320" y="3035808"/>
            <a:ext cx="1097280" cy="640080"/>
            <a:chOff x="0" y="0"/>
            <a:chExt cx="146304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5943" y="3864359"/>
            <a:ext cx="7889243" cy="903227"/>
            <a:chOff x="0" y="0"/>
            <a:chExt cx="10518991" cy="12043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1520" y="3986784"/>
            <a:ext cx="3657600" cy="640080"/>
            <a:chOff x="0" y="0"/>
            <a:chExt cx="4876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Carbon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Credit Trading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389120" y="3986784"/>
            <a:ext cx="1280160" cy="640080"/>
            <a:chOff x="0" y="0"/>
            <a:chExt cx="170688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60720" y="3986784"/>
            <a:ext cx="1280160" cy="640080"/>
            <a:chOff x="0" y="0"/>
            <a:chExt cx="170688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🏭-3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32320" y="3986784"/>
            <a:ext cx="1097280" cy="640080"/>
            <a:chOff x="0" y="0"/>
            <a:chExt cx="146304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+1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5943" y="4815335"/>
            <a:ext cx="7889243" cy="903227"/>
            <a:chOff x="0" y="0"/>
            <a:chExt cx="10518991" cy="12043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31520" y="4937760"/>
            <a:ext cx="3657600" cy="640080"/>
            <a:chOff x="0" y="0"/>
            <a:chExt cx="487680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Sustai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nable Forestry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389120" y="4937760"/>
            <a:ext cx="1280160" cy="640080"/>
            <a:chOff x="0" y="0"/>
            <a:chExt cx="170688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760720" y="4937760"/>
            <a:ext cx="1280160" cy="640080"/>
            <a:chOff x="0" y="0"/>
            <a:chExt cx="170688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32320" y="4937760"/>
            <a:ext cx="1097280" cy="640080"/>
            <a:chOff x="0" y="0"/>
            <a:chExt cx="146304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5766311"/>
            <a:ext cx="7889243" cy="903227"/>
            <a:chOff x="0" y="0"/>
            <a:chExt cx="10518991" cy="12043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31520" y="5888736"/>
            <a:ext cx="3657600" cy="640080"/>
            <a:chOff x="0" y="0"/>
            <a:chExt cx="487680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Agrochemical Hubs (Eco-pesticide)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389120" y="5888736"/>
            <a:ext cx="1280160" cy="640080"/>
            <a:chOff x="0" y="0"/>
            <a:chExt cx="170688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760720" y="5888736"/>
            <a:ext cx="1280160" cy="640080"/>
            <a:chOff x="0" y="0"/>
            <a:chExt cx="170688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132320" y="5888736"/>
            <a:ext cx="1097280" cy="640080"/>
            <a:chOff x="0" y="0"/>
            <a:chExt cx="146304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35943" y="6717287"/>
            <a:ext cx="7889243" cy="903227"/>
            <a:chOff x="0" y="0"/>
            <a:chExt cx="10518991" cy="120430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31520" y="6839712"/>
            <a:ext cx="3657600" cy="640080"/>
            <a:chOff x="0" y="0"/>
            <a:chExt cx="487680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Cold Chain Logistics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389120" y="6839712"/>
            <a:ext cx="1280160" cy="640080"/>
            <a:chOff x="0" y="0"/>
            <a:chExt cx="170688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+4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760720" y="6839712"/>
            <a:ext cx="1280160" cy="640080"/>
            <a:chOff x="0" y="0"/>
            <a:chExt cx="1706880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🏭+1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132320" y="6839712"/>
            <a:ext cx="1097280" cy="640080"/>
            <a:chOff x="0" y="0"/>
            <a:chExt cx="1463040" cy="853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+2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314183" y="1907543"/>
            <a:ext cx="8437883" cy="848363"/>
            <a:chOff x="0" y="0"/>
            <a:chExt cx="11250511" cy="113115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6B8A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250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14171"/>
                  </a:lnTo>
                  <a:cubicBezTo>
                    <a:pt x="11250422" y="1123569"/>
                    <a:pt x="11242802" y="1131062"/>
                    <a:pt x="11233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233531" y="1097280"/>
                  </a:lnTo>
                  <a:lnTo>
                    <a:pt x="11233531" y="1114171"/>
                  </a:lnTo>
                  <a:lnTo>
                    <a:pt x="11216640" y="11141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326880" y="1920240"/>
            <a:ext cx="8412480" cy="822960"/>
            <a:chOff x="0" y="0"/>
            <a:chExt cx="11216640" cy="10972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180" r="0" b="-14918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112166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Group D: Energy &amp; Power Infrastructure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14183" y="2913383"/>
            <a:ext cx="8437883" cy="903227"/>
            <a:chOff x="0" y="0"/>
            <a:chExt cx="11250511" cy="120430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509760" y="3035808"/>
            <a:ext cx="4023360" cy="640080"/>
            <a:chOff x="0" y="0"/>
            <a:chExt cx="536448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 Power Plants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624560" y="3035808"/>
            <a:ext cx="1280160" cy="640080"/>
            <a:chOff x="0" y="0"/>
            <a:chExt cx="1706880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4959584" y="3035808"/>
            <a:ext cx="1280160" cy="640080"/>
            <a:chOff x="0" y="0"/>
            <a:chExt cx="1706880" cy="8534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🏭+6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6276320" y="3035808"/>
            <a:ext cx="1280160" cy="640080"/>
            <a:chOff x="0" y="0"/>
            <a:chExt cx="1706880" cy="8534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314183" y="3864359"/>
            <a:ext cx="8437883" cy="903227"/>
            <a:chOff x="0" y="0"/>
            <a:chExt cx="11250511" cy="120430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509760" y="3986784"/>
            <a:ext cx="4023360" cy="640080"/>
            <a:chOff x="0" y="0"/>
            <a:chExt cx="536448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Nuclear Power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Plants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624560" y="3986784"/>
            <a:ext cx="1280160" cy="640080"/>
            <a:chOff x="0" y="0"/>
            <a:chExt cx="1706880" cy="8534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+10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4959584" y="3986784"/>
            <a:ext cx="1280160" cy="640080"/>
            <a:chOff x="0" y="0"/>
            <a:chExt cx="1706880" cy="85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🏭+5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6276320" y="3986784"/>
            <a:ext cx="1280160" cy="640080"/>
            <a:chOff x="0" y="0"/>
            <a:chExt cx="1706880" cy="8534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Industries and resources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907543"/>
            <a:ext cx="7889243" cy="848363"/>
            <a:chOff x="0" y="0"/>
            <a:chExt cx="1051899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E3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920240"/>
            <a:ext cx="7863840" cy="822960"/>
            <a:chOff x="0" y="0"/>
            <a:chExt cx="1048512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4851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Group E: Food Industry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913383"/>
            <a:ext cx="7889243" cy="903227"/>
            <a:chOff x="0" y="0"/>
            <a:chExt cx="10518991" cy="12043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3035808"/>
            <a:ext cx="3657600" cy="640080"/>
            <a:chOff x="0" y="0"/>
            <a:chExt cx="48768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Dairy Process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 Plants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89120" y="3035808"/>
            <a:ext cx="1280160" cy="640080"/>
            <a:chOff x="0" y="0"/>
            <a:chExt cx="170688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760720" y="3035808"/>
            <a:ext cx="1280160" cy="640080"/>
            <a:chOff x="0" y="0"/>
            <a:chExt cx="170688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32320" y="3035808"/>
            <a:ext cx="1097280" cy="640080"/>
            <a:chOff x="0" y="0"/>
            <a:chExt cx="146304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5943" y="3864359"/>
            <a:ext cx="7889243" cy="903227"/>
            <a:chOff x="0" y="0"/>
            <a:chExt cx="10518991" cy="12043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1520" y="3986784"/>
            <a:ext cx="3657600" cy="640080"/>
            <a:chOff x="0" y="0"/>
            <a:chExt cx="4876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Food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&amp; Bev Processing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389120" y="3986784"/>
            <a:ext cx="1280160" cy="640080"/>
            <a:chOff x="0" y="0"/>
            <a:chExt cx="170688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60720" y="3986784"/>
            <a:ext cx="1280160" cy="640080"/>
            <a:chOff x="0" y="0"/>
            <a:chExt cx="170688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32320" y="3986784"/>
            <a:ext cx="1097280" cy="640080"/>
            <a:chOff x="0" y="0"/>
            <a:chExt cx="146304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5943" y="4815335"/>
            <a:ext cx="7889243" cy="903227"/>
            <a:chOff x="0" y="0"/>
            <a:chExt cx="10518991" cy="12043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31520" y="4937760"/>
            <a:ext cx="3657600" cy="640080"/>
            <a:chOff x="0" y="0"/>
            <a:chExt cx="487680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Inland Contai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ner Depots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389120" y="4937760"/>
            <a:ext cx="1280160" cy="640080"/>
            <a:chOff x="0" y="0"/>
            <a:chExt cx="170688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760720" y="4937760"/>
            <a:ext cx="1280160" cy="640080"/>
            <a:chOff x="0" y="0"/>
            <a:chExt cx="170688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🏭+1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32320" y="4937760"/>
            <a:ext cx="1097280" cy="640080"/>
            <a:chOff x="0" y="0"/>
            <a:chExt cx="146304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5766311"/>
            <a:ext cx="7889243" cy="903227"/>
            <a:chOff x="0" y="0"/>
            <a:chExt cx="10518991" cy="12043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8901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87323"/>
                  </a:lnTo>
                  <a:cubicBezTo>
                    <a:pt x="10518901" y="1196721"/>
                    <a:pt x="10511282" y="1204214"/>
                    <a:pt x="1050201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502011" y="1170432"/>
                  </a:lnTo>
                  <a:lnTo>
                    <a:pt x="10502011" y="1187323"/>
                  </a:lnTo>
                  <a:lnTo>
                    <a:pt x="10485120" y="118732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31520" y="5888736"/>
            <a:ext cx="3657600" cy="640080"/>
            <a:chOff x="0" y="0"/>
            <a:chExt cx="487680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Agricultural Machinery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389120" y="5888736"/>
            <a:ext cx="1280160" cy="640080"/>
            <a:chOff x="0" y="0"/>
            <a:chExt cx="170688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760720" y="5888736"/>
            <a:ext cx="1280160" cy="640080"/>
            <a:chOff x="0" y="0"/>
            <a:chExt cx="170688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132320" y="5888736"/>
            <a:ext cx="1097280" cy="640080"/>
            <a:chOff x="0" y="0"/>
            <a:chExt cx="146304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314183" y="1907543"/>
            <a:ext cx="8437883" cy="848363"/>
            <a:chOff x="0" y="0"/>
            <a:chExt cx="11250511" cy="113115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6B8A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250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14171"/>
                  </a:lnTo>
                  <a:cubicBezTo>
                    <a:pt x="11250422" y="1123569"/>
                    <a:pt x="11242802" y="1131062"/>
                    <a:pt x="11233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233531" y="1097280"/>
                  </a:lnTo>
                  <a:lnTo>
                    <a:pt x="11233531" y="1114171"/>
                  </a:lnTo>
                  <a:lnTo>
                    <a:pt x="11216640" y="11141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326880" y="1920240"/>
            <a:ext cx="8412480" cy="822960"/>
            <a:chOff x="0" y="0"/>
            <a:chExt cx="11216640" cy="1097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180" r="0" b="-14918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112166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Group F: Resource Extraction &amp; Heavy Support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14183" y="2913383"/>
            <a:ext cx="8437883" cy="903227"/>
            <a:chOff x="0" y="0"/>
            <a:chExt cx="11250511" cy="120430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509760" y="3035808"/>
            <a:ext cx="4023360" cy="640080"/>
            <a:chOff x="0" y="0"/>
            <a:chExt cx="5364480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Quarrying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624560" y="3035808"/>
            <a:ext cx="1280160" cy="640080"/>
            <a:chOff x="0" y="0"/>
            <a:chExt cx="1706880" cy="853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959584" y="3035808"/>
            <a:ext cx="1280160" cy="640080"/>
            <a:chOff x="0" y="0"/>
            <a:chExt cx="1706880" cy="8534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🏭+6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276320" y="3035808"/>
            <a:ext cx="1280160" cy="640080"/>
            <a:chOff x="0" y="0"/>
            <a:chExt cx="1706880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14183" y="3864359"/>
            <a:ext cx="8437883" cy="903227"/>
            <a:chOff x="0" y="0"/>
            <a:chExt cx="11250511" cy="120430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509760" y="3986784"/>
            <a:ext cx="4023360" cy="640080"/>
            <a:chOff x="0" y="0"/>
            <a:chExt cx="536448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Heavy Equipment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Rental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624560" y="3986784"/>
            <a:ext cx="1280160" cy="640080"/>
            <a:chOff x="0" y="0"/>
            <a:chExt cx="1706880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+7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4959584" y="3986784"/>
            <a:ext cx="1280160" cy="640080"/>
            <a:chOff x="0" y="0"/>
            <a:chExt cx="1706880" cy="8534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🏭+3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6276320" y="3986784"/>
            <a:ext cx="1280160" cy="640080"/>
            <a:chOff x="0" y="0"/>
            <a:chExt cx="1706880" cy="8534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314183" y="4791461"/>
            <a:ext cx="8437883" cy="903227"/>
            <a:chOff x="0" y="0"/>
            <a:chExt cx="11250511" cy="120430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509760" y="4913886"/>
            <a:ext cx="4023360" cy="640080"/>
            <a:chOff x="0" y="0"/>
            <a:chExt cx="536448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Construction Sector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624560" y="4913886"/>
            <a:ext cx="1280160" cy="640080"/>
            <a:chOff x="0" y="0"/>
            <a:chExt cx="1706880" cy="8534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+6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4959584" y="4913886"/>
            <a:ext cx="1280160" cy="640080"/>
            <a:chOff x="0" y="0"/>
            <a:chExt cx="1706880" cy="85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🏭+6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6276320" y="4913886"/>
            <a:ext cx="1280160" cy="640080"/>
            <a:chOff x="0" y="0"/>
            <a:chExt cx="1706880" cy="8534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14183" y="5742437"/>
            <a:ext cx="8437883" cy="903227"/>
            <a:chOff x="0" y="0"/>
            <a:chExt cx="11250511" cy="120430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D1F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509760" y="5864862"/>
            <a:ext cx="4023360" cy="640080"/>
            <a:chOff x="0" y="0"/>
            <a:chExt cx="5364480" cy="8534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Logging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(Standard)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624560" y="5864862"/>
            <a:ext cx="1280160" cy="640080"/>
            <a:chOff x="0" y="0"/>
            <a:chExt cx="1706880" cy="8534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+3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4959584" y="5864862"/>
            <a:ext cx="1280160" cy="640080"/>
            <a:chOff x="0" y="0"/>
            <a:chExt cx="1706880" cy="853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🏭+4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6276320" y="5864862"/>
            <a:ext cx="1280160" cy="640080"/>
            <a:chOff x="0" y="0"/>
            <a:chExt cx="1706880" cy="853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+5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314183" y="6693289"/>
            <a:ext cx="8437883" cy="903227"/>
            <a:chOff x="0" y="0"/>
            <a:chExt cx="11250511" cy="1204303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509760" y="6815714"/>
            <a:ext cx="4023360" cy="640080"/>
            <a:chOff x="0" y="0"/>
            <a:chExt cx="5364480" cy="853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Paper Mills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3624560" y="6815714"/>
            <a:ext cx="1280160" cy="640080"/>
            <a:chOff x="0" y="0"/>
            <a:chExt cx="1706880" cy="853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++2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4959584" y="6815714"/>
            <a:ext cx="1280160" cy="640080"/>
            <a:chOff x="0" y="0"/>
            <a:chExt cx="1706880" cy="853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🏭+3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6276320" y="6815714"/>
            <a:ext cx="1280160" cy="640080"/>
            <a:chOff x="0" y="0"/>
            <a:chExt cx="1706880" cy="8534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706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7068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39B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8B1A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4295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E08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E08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371600"/>
            <a:chOff x="0" y="0"/>
            <a:chExt cx="243840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43840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5EED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⚠  THE CRISIS DECK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6487" y="1998983"/>
            <a:ext cx="2366267" cy="1817627"/>
            <a:chOff x="0" y="0"/>
            <a:chExt cx="3155023" cy="24235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29184" y="2084832"/>
            <a:ext cx="2340864" cy="822960"/>
            <a:chOff x="0" y="0"/>
            <a:chExt cx="3121152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📉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84048" y="2889504"/>
            <a:ext cx="2231136" cy="804672"/>
            <a:chOff x="0" y="0"/>
            <a:chExt cx="2974848" cy="1072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Crisis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40231" y="1998983"/>
            <a:ext cx="2366267" cy="1817627"/>
            <a:chOff x="0" y="0"/>
            <a:chExt cx="3155023" cy="24235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852928" y="2084832"/>
            <a:ext cx="2340864" cy="822960"/>
            <a:chOff x="0" y="0"/>
            <a:chExt cx="3121152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🏛️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907792" y="2889504"/>
            <a:ext cx="2231136" cy="804672"/>
            <a:chOff x="0" y="0"/>
            <a:chExt cx="2974848" cy="10728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Gov. Collapse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63975" y="1998983"/>
            <a:ext cx="2366267" cy="1817627"/>
            <a:chOff x="0" y="0"/>
            <a:chExt cx="3155023" cy="24235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76672" y="2084832"/>
            <a:ext cx="2340864" cy="822960"/>
            <a:chOff x="0" y="0"/>
            <a:chExt cx="3121152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⚔️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31536" y="2889504"/>
            <a:ext cx="2231136" cy="804672"/>
            <a:chOff x="0" y="0"/>
            <a:chExt cx="2974848" cy="10728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87719" y="1998983"/>
            <a:ext cx="2366267" cy="1817627"/>
            <a:chOff x="0" y="0"/>
            <a:chExt cx="3155023" cy="24235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900416" y="2084832"/>
            <a:ext cx="2340864" cy="822960"/>
            <a:chOff x="0" y="0"/>
            <a:chExt cx="3121152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💣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955280" y="2889504"/>
            <a:ext cx="2231136" cy="804672"/>
            <a:chOff x="0" y="0"/>
            <a:chExt cx="2974848" cy="10728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Terrorism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11463" y="1998983"/>
            <a:ext cx="2366267" cy="1817627"/>
            <a:chOff x="0" y="0"/>
            <a:chExt cx="3155023" cy="24235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424160" y="2084832"/>
            <a:ext cx="2340864" cy="822960"/>
            <a:chOff x="0" y="0"/>
            <a:chExt cx="3121152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🦠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479024" y="2889504"/>
            <a:ext cx="2231136" cy="804672"/>
            <a:chOff x="0" y="0"/>
            <a:chExt cx="2974848" cy="10728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Pandemic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935207" y="1998983"/>
            <a:ext cx="2366267" cy="1817627"/>
            <a:chOff x="0" y="0"/>
            <a:chExt cx="3155023" cy="24235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947904" y="2084832"/>
            <a:ext cx="2340864" cy="822960"/>
            <a:chOff x="0" y="0"/>
            <a:chExt cx="3121152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🌡️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002768" y="2889504"/>
            <a:ext cx="2231136" cy="804672"/>
            <a:chOff x="0" y="0"/>
            <a:chExt cx="2974848" cy="10728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Climate Change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458951" y="1998983"/>
            <a:ext cx="2366267" cy="1817627"/>
            <a:chOff x="0" y="0"/>
            <a:chExt cx="3155023" cy="242350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5471648" y="2084832"/>
            <a:ext cx="2340864" cy="822960"/>
            <a:chOff x="0" y="0"/>
            <a:chExt cx="3121152" cy="1097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🌲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526512" y="2889504"/>
            <a:ext cx="2231136" cy="804672"/>
            <a:chOff x="0" y="0"/>
            <a:chExt cx="2974848" cy="10728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Deforestation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16487" y="4010663"/>
            <a:ext cx="2366267" cy="1817627"/>
            <a:chOff x="0" y="0"/>
            <a:chExt cx="3155023" cy="242350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329184" y="4096512"/>
            <a:ext cx="2340864" cy="822960"/>
            <a:chOff x="0" y="0"/>
            <a:chExt cx="3121152" cy="10972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🏭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384048" y="4901184"/>
            <a:ext cx="2231136" cy="804672"/>
            <a:chOff x="0" y="0"/>
            <a:chExt cx="2974848" cy="10728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Pollution Disaster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840231" y="4010663"/>
            <a:ext cx="2366267" cy="1817627"/>
            <a:chOff x="0" y="0"/>
            <a:chExt cx="3155023" cy="242350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2852928" y="4096512"/>
            <a:ext cx="2340864" cy="822960"/>
            <a:chOff x="0" y="0"/>
            <a:chExt cx="3121152" cy="1097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🌾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2907792" y="4901184"/>
            <a:ext cx="2231136" cy="804672"/>
            <a:chOff x="0" y="0"/>
            <a:chExt cx="2974848" cy="107289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Famine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363975" y="4010663"/>
            <a:ext cx="2366267" cy="1817627"/>
            <a:chOff x="0" y="0"/>
            <a:chExt cx="3155023" cy="242350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5376672" y="4096512"/>
            <a:ext cx="2340864" cy="822960"/>
            <a:chOff x="0" y="0"/>
            <a:chExt cx="3121152" cy="10972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☢️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431536" y="4901184"/>
            <a:ext cx="2231136" cy="804672"/>
            <a:chOff x="0" y="0"/>
            <a:chExt cx="2974848" cy="107289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Nuclear Accident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887719" y="4010663"/>
            <a:ext cx="2366267" cy="1817627"/>
            <a:chOff x="0" y="0"/>
            <a:chExt cx="3155023" cy="242350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900416" y="4096512"/>
            <a:ext cx="2340864" cy="822960"/>
            <a:chOff x="0" y="0"/>
            <a:chExt cx="3121152" cy="10972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🌊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955280" y="4901184"/>
            <a:ext cx="2231136" cy="804672"/>
            <a:chOff x="0" y="0"/>
            <a:chExt cx="2974848" cy="107289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Refugee Crisis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411463" y="4010663"/>
            <a:ext cx="2366267" cy="1817627"/>
            <a:chOff x="0" y="0"/>
            <a:chExt cx="3155023" cy="242350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424160" y="4096512"/>
            <a:ext cx="2340864" cy="822960"/>
            <a:chOff x="0" y="0"/>
            <a:chExt cx="3121152" cy="10972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💻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479024" y="4901184"/>
            <a:ext cx="2231136" cy="804672"/>
            <a:chOff x="0" y="0"/>
            <a:chExt cx="2974848" cy="107289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Cyber Attacks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935207" y="4010663"/>
            <a:ext cx="2366267" cy="1817627"/>
            <a:chOff x="0" y="0"/>
            <a:chExt cx="3155023" cy="242350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947904" y="4096512"/>
            <a:ext cx="2340864" cy="822960"/>
            <a:chOff x="0" y="0"/>
            <a:chExt cx="3121152" cy="10972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002768" y="4901184"/>
            <a:ext cx="2231136" cy="804672"/>
            <a:chOff x="0" y="0"/>
            <a:chExt cx="2974848" cy="107289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Grid Attack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5458951" y="4010663"/>
            <a:ext cx="2366267" cy="1817627"/>
            <a:chOff x="0" y="0"/>
            <a:chExt cx="3155023" cy="242350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5471648" y="4096512"/>
            <a:ext cx="2340864" cy="822960"/>
            <a:chOff x="0" y="0"/>
            <a:chExt cx="3121152" cy="10972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☢️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5526512" y="4901184"/>
            <a:ext cx="2231136" cy="804672"/>
            <a:chOff x="0" y="0"/>
            <a:chExt cx="2974848" cy="107289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Nuclear Strike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316487" y="6022343"/>
            <a:ext cx="2366267" cy="1817627"/>
            <a:chOff x="0" y="0"/>
            <a:chExt cx="3155023" cy="242350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329184" y="6108192"/>
            <a:ext cx="2340864" cy="822960"/>
            <a:chOff x="0" y="0"/>
            <a:chExt cx="3121152" cy="109728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⚖️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384048" y="6912864"/>
            <a:ext cx="2231136" cy="804672"/>
            <a:chOff x="0" y="0"/>
            <a:chExt cx="2974848" cy="107289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Social Inequality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2840231" y="6022343"/>
            <a:ext cx="2366267" cy="1817627"/>
            <a:chOff x="0" y="0"/>
            <a:chExt cx="3155023" cy="2423503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2852928" y="6108192"/>
            <a:ext cx="2340864" cy="822960"/>
            <a:chOff x="0" y="0"/>
            <a:chExt cx="3121152" cy="109728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💧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2907792" y="6912864"/>
            <a:ext cx="2231136" cy="804672"/>
            <a:chOff x="0" y="0"/>
            <a:chExt cx="2974848" cy="1072896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Water Scarcity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5363975" y="6022343"/>
            <a:ext cx="2366267" cy="1817627"/>
            <a:chOff x="0" y="0"/>
            <a:chExt cx="3155023" cy="2423503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5376672" y="6108192"/>
            <a:ext cx="2340864" cy="822960"/>
            <a:chOff x="0" y="0"/>
            <a:chExt cx="3121152" cy="109728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🛢️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5431536" y="6912864"/>
            <a:ext cx="2231136" cy="804672"/>
            <a:chOff x="0" y="0"/>
            <a:chExt cx="2974848" cy="107289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Oil Spill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7887719" y="6022343"/>
            <a:ext cx="2366267" cy="1817627"/>
            <a:chOff x="0" y="0"/>
            <a:chExt cx="3155023" cy="2423503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7900416" y="6108192"/>
            <a:ext cx="2340864" cy="822960"/>
            <a:chOff x="0" y="0"/>
            <a:chExt cx="3121152" cy="109728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🐟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7955280" y="6912864"/>
            <a:ext cx="2231136" cy="804672"/>
            <a:chOff x="0" y="0"/>
            <a:chExt cx="2974848" cy="107289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Overfishing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0411463" y="6022343"/>
            <a:ext cx="2366267" cy="1817627"/>
            <a:chOff x="0" y="0"/>
            <a:chExt cx="3155023" cy="2423503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0424160" y="6108192"/>
            <a:ext cx="2340864" cy="822960"/>
            <a:chOff x="0" y="0"/>
            <a:chExt cx="3121152" cy="109728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🦋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0479024" y="6912864"/>
            <a:ext cx="2231136" cy="804672"/>
            <a:chOff x="0" y="0"/>
            <a:chExt cx="2974848" cy="1072896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Biodiversity Loss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2935207" y="6022343"/>
            <a:ext cx="2366267" cy="1817627"/>
            <a:chOff x="0" y="0"/>
            <a:chExt cx="3155023" cy="2423503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2947904" y="6108192"/>
            <a:ext cx="2340864" cy="822960"/>
            <a:chOff x="0" y="0"/>
            <a:chExt cx="3121152" cy="109728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3002768" y="6912864"/>
            <a:ext cx="2231136" cy="804672"/>
            <a:chOff x="0" y="0"/>
            <a:chExt cx="2974848" cy="107289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Disruption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5458951" y="6022343"/>
            <a:ext cx="2366267" cy="1817627"/>
            <a:chOff x="0" y="0"/>
            <a:chExt cx="3155023" cy="2423503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5471648" y="6108192"/>
            <a:ext cx="2340864" cy="822960"/>
            <a:chOff x="0" y="0"/>
            <a:chExt cx="3121152" cy="109728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5526512" y="6912864"/>
            <a:ext cx="2231136" cy="804672"/>
            <a:chOff x="0" y="0"/>
            <a:chExt cx="2974848" cy="107289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Inflation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316487" y="8034023"/>
            <a:ext cx="2366267" cy="1817627"/>
            <a:chOff x="0" y="0"/>
            <a:chExt cx="3155023" cy="2423503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329184" y="8119872"/>
            <a:ext cx="2340864" cy="822960"/>
            <a:chOff x="0" y="0"/>
            <a:chExt cx="3121152" cy="109728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🧑‍🔬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384048" y="8924544"/>
            <a:ext cx="2231136" cy="804672"/>
            <a:chOff x="0" y="0"/>
            <a:chExt cx="2974848" cy="1072896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Innovation Crisis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2840231" y="8034023"/>
            <a:ext cx="2366267" cy="1817627"/>
            <a:chOff x="0" y="0"/>
            <a:chExt cx="3155023" cy="2423503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2852928" y="8119872"/>
            <a:ext cx="2340864" cy="822960"/>
            <a:chOff x="0" y="0"/>
            <a:chExt cx="3121152" cy="109728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💾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2907792" y="8924544"/>
            <a:ext cx="2231136" cy="804672"/>
            <a:chOff x="0" y="0"/>
            <a:chExt cx="2974848" cy="107289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Chip Shortage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5363975" y="8034023"/>
            <a:ext cx="2366267" cy="1817627"/>
            <a:chOff x="0" y="0"/>
            <a:chExt cx="3155023" cy="2423503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5376672" y="8119872"/>
            <a:ext cx="2340864" cy="822960"/>
            <a:chOff x="0" y="0"/>
            <a:chExt cx="3121152" cy="1097280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🎭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5431536" y="8924544"/>
            <a:ext cx="2231136" cy="804672"/>
            <a:chOff x="0" y="0"/>
            <a:chExt cx="2974848" cy="1072896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Trust Crisis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7887719" y="8034023"/>
            <a:ext cx="2366267" cy="1817627"/>
            <a:chOff x="0" y="0"/>
            <a:chExt cx="3155023" cy="2423503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7900416" y="8119872"/>
            <a:ext cx="2340864" cy="822960"/>
            <a:chOff x="0" y="0"/>
            <a:chExt cx="3121152" cy="1097280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😔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7955280" y="8924544"/>
            <a:ext cx="2231136" cy="804672"/>
            <a:chOff x="0" y="0"/>
            <a:chExt cx="2974848" cy="1072896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Loneliness Crisis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10411463" y="8034023"/>
            <a:ext cx="2366267" cy="1817627"/>
            <a:chOff x="0" y="0"/>
            <a:chExt cx="3155023" cy="2423503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10424160" y="8119872"/>
            <a:ext cx="2340864" cy="822960"/>
            <a:chOff x="0" y="0"/>
            <a:chExt cx="3121152" cy="1097280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🍞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10479024" y="8924544"/>
            <a:ext cx="2231136" cy="804672"/>
            <a:chOff x="0" y="0"/>
            <a:chExt cx="2974848" cy="107289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Food Security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12935207" y="8034023"/>
            <a:ext cx="2366267" cy="1817627"/>
            <a:chOff x="0" y="0"/>
            <a:chExt cx="3155023" cy="2423503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12947904" y="8119872"/>
            <a:ext cx="2340864" cy="822960"/>
            <a:chOff x="0" y="0"/>
            <a:chExt cx="3121152" cy="1097280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🧴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13002768" y="8924544"/>
            <a:ext cx="2231136" cy="804672"/>
            <a:chOff x="0" y="0"/>
            <a:chExt cx="2974848" cy="1072896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253" id="253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Plastic Pollution</a:t>
              </a:r>
            </a:p>
          </p:txBody>
        </p:sp>
      </p:grpSp>
      <p:grpSp>
        <p:nvGrpSpPr>
          <p:cNvPr name="Group 254" id="254"/>
          <p:cNvGrpSpPr/>
          <p:nvPr/>
        </p:nvGrpSpPr>
        <p:grpSpPr>
          <a:xfrm rot="0">
            <a:off x="15458951" y="8034023"/>
            <a:ext cx="2366267" cy="1817627"/>
            <a:chOff x="0" y="0"/>
            <a:chExt cx="3155023" cy="2423503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16891" y="16891"/>
              <a:ext cx="3121152" cy="2389632"/>
            </a:xfrm>
            <a:custGeom>
              <a:avLst/>
              <a:gdLst/>
              <a:ahLst/>
              <a:cxnLst/>
              <a:rect r="r" b="b" t="t" l="l"/>
              <a:pathLst>
                <a:path h="23896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2A0808"/>
            </a:solidFill>
          </p:spPr>
        </p:sp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154934" cy="2423414"/>
            </a:xfrm>
            <a:custGeom>
              <a:avLst/>
              <a:gdLst/>
              <a:ahLst/>
              <a:cxnLst/>
              <a:rect r="r" b="b" t="t" l="l"/>
              <a:pathLst>
                <a:path h="2423414" w="3154934">
                  <a:moveTo>
                    <a:pt x="16891" y="0"/>
                  </a:moveTo>
                  <a:lnTo>
                    <a:pt x="3138043" y="0"/>
                  </a:lnTo>
                  <a:cubicBezTo>
                    <a:pt x="3147441" y="0"/>
                    <a:pt x="3154934" y="7620"/>
                    <a:pt x="3154934" y="16891"/>
                  </a:cubicBezTo>
                  <a:lnTo>
                    <a:pt x="3154934" y="2406523"/>
                  </a:lnTo>
                  <a:cubicBezTo>
                    <a:pt x="3154934" y="2415921"/>
                    <a:pt x="3147314" y="2423414"/>
                    <a:pt x="313804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3138043" y="2389632"/>
                  </a:lnTo>
                  <a:lnTo>
                    <a:pt x="3138043" y="2406523"/>
                  </a:lnTo>
                  <a:lnTo>
                    <a:pt x="3121152" y="2406523"/>
                  </a:lnTo>
                  <a:lnTo>
                    <a:pt x="3121152" y="16891"/>
                  </a:lnTo>
                  <a:lnTo>
                    <a:pt x="3138043" y="16891"/>
                  </a:lnTo>
                  <a:lnTo>
                    <a:pt x="3138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1A1A"/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5471648" y="8119872"/>
            <a:ext cx="2340864" cy="822960"/>
            <a:chOff x="0" y="0"/>
            <a:chExt cx="3121152" cy="1097280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31211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259" id="259"/>
            <p:cNvSpPr txBox="true"/>
            <p:nvPr/>
          </p:nvSpPr>
          <p:spPr>
            <a:xfrm>
              <a:off x="0" y="-76200"/>
              <a:ext cx="3121152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🏜️</a:t>
              </a:r>
            </a:p>
          </p:txBody>
        </p:sp>
      </p:grpSp>
      <p:grpSp>
        <p:nvGrpSpPr>
          <p:cNvPr name="Group 260" id="260"/>
          <p:cNvGrpSpPr/>
          <p:nvPr/>
        </p:nvGrpSpPr>
        <p:grpSpPr>
          <a:xfrm rot="0">
            <a:off x="15526512" y="8924544"/>
            <a:ext cx="2231136" cy="804672"/>
            <a:chOff x="0" y="0"/>
            <a:chExt cx="2974848" cy="1072896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29748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6" r="0" b="-4026"/>
              </a:stretch>
            </a:blipFill>
          </p:spPr>
        </p:sp>
        <p:sp>
          <p:nvSpPr>
            <p:cNvPr name="TextBox 262" id="262"/>
            <p:cNvSpPr txBox="true"/>
            <p:nvPr/>
          </p:nvSpPr>
          <p:spPr>
            <a:xfrm>
              <a:off x="0" y="-38100"/>
              <a:ext cx="297484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Desertification</a:t>
              </a:r>
            </a:p>
          </p:txBody>
        </p:sp>
      </p:grpSp>
      <p:grpSp>
        <p:nvGrpSpPr>
          <p:cNvPr name="Group 263" id="263"/>
          <p:cNvGrpSpPr/>
          <p:nvPr/>
        </p:nvGrpSpPr>
        <p:grpSpPr>
          <a:xfrm rot="0">
            <a:off x="548640" y="9803130"/>
            <a:ext cx="17190720" cy="402336"/>
            <a:chOff x="0" y="0"/>
            <a:chExt cx="22920960" cy="536448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22920961" cy="536448"/>
            </a:xfrm>
            <a:custGeom>
              <a:avLst/>
              <a:gdLst/>
              <a:ahLst/>
              <a:cxnLst/>
              <a:rect r="r" b="b" t="t" l="l"/>
              <a:pathLst>
                <a:path h="5364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2542" r="0" b="-782542"/>
              </a:stretch>
            </a:blipFill>
          </p:spPr>
        </p:sp>
        <p:sp>
          <p:nvSpPr>
            <p:cNvPr name="TextBox 265" id="265"/>
            <p:cNvSpPr txBox="true"/>
            <p:nvPr/>
          </p:nvSpPr>
          <p:spPr>
            <a:xfrm>
              <a:off x="0" y="-9525"/>
              <a:ext cx="22920960" cy="545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AA555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Any of these can be drawn at any moment. Preparation is your only shield.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✨  POSITIVE EVENT CARDS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852679"/>
            <a:ext cx="17216123" cy="756923"/>
            <a:chOff x="0" y="0"/>
            <a:chExt cx="22954831" cy="1009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6860" y="16891"/>
              <a:ext cx="22880916" cy="975360"/>
            </a:xfrm>
            <a:custGeom>
              <a:avLst/>
              <a:gdLst/>
              <a:ahLst/>
              <a:cxnLst/>
              <a:rect r="r" b="b" t="t" l="l"/>
              <a:pathLst>
                <a:path h="975360" w="22880916">
                  <a:moveTo>
                    <a:pt x="0" y="0"/>
                  </a:moveTo>
                  <a:lnTo>
                    <a:pt x="22880916" y="0"/>
                  </a:lnTo>
                  <a:lnTo>
                    <a:pt x="22880916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A6B8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636" cy="1009144"/>
            </a:xfrm>
            <a:custGeom>
              <a:avLst/>
              <a:gdLst/>
              <a:ahLst/>
              <a:cxnLst/>
              <a:rect r="r" b="b" t="t" l="l"/>
              <a:pathLst>
                <a:path h="1009144" w="22954636">
                  <a:moveTo>
                    <a:pt x="36860" y="0"/>
                  </a:moveTo>
                  <a:lnTo>
                    <a:pt x="22917776" y="0"/>
                  </a:lnTo>
                  <a:cubicBezTo>
                    <a:pt x="22938285" y="0"/>
                    <a:pt x="22954636" y="7620"/>
                    <a:pt x="22954636" y="16891"/>
                  </a:cubicBezTo>
                  <a:lnTo>
                    <a:pt x="22954636" y="992251"/>
                  </a:lnTo>
                  <a:cubicBezTo>
                    <a:pt x="22954636" y="1001649"/>
                    <a:pt x="22938008" y="1009142"/>
                    <a:pt x="22917776" y="1009142"/>
                  </a:cubicBezTo>
                  <a:lnTo>
                    <a:pt x="36860" y="1009142"/>
                  </a:lnTo>
                  <a:cubicBezTo>
                    <a:pt x="16629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16629" y="0"/>
                    <a:pt x="36860" y="0"/>
                  </a:cubicBezTo>
                  <a:moveTo>
                    <a:pt x="36860" y="33909"/>
                  </a:moveTo>
                  <a:lnTo>
                    <a:pt x="36860" y="16891"/>
                  </a:lnTo>
                  <a:lnTo>
                    <a:pt x="73997" y="16891"/>
                  </a:lnTo>
                  <a:lnTo>
                    <a:pt x="73997" y="992251"/>
                  </a:lnTo>
                  <a:lnTo>
                    <a:pt x="36860" y="992251"/>
                  </a:lnTo>
                  <a:lnTo>
                    <a:pt x="36860" y="975360"/>
                  </a:lnTo>
                  <a:lnTo>
                    <a:pt x="22917776" y="975360"/>
                  </a:lnTo>
                  <a:lnTo>
                    <a:pt x="22917776" y="992251"/>
                  </a:lnTo>
                  <a:lnTo>
                    <a:pt x="22880917" y="992251"/>
                  </a:lnTo>
                  <a:lnTo>
                    <a:pt x="22880917" y="16891"/>
                  </a:lnTo>
                  <a:lnTo>
                    <a:pt x="22917776" y="16891"/>
                  </a:lnTo>
                  <a:lnTo>
                    <a:pt x="22917776" y="33909"/>
                  </a:lnTo>
                  <a:lnTo>
                    <a:pt x="36860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2730503"/>
            <a:ext cx="7889243" cy="848363"/>
            <a:chOff x="0" y="0"/>
            <a:chExt cx="10518991" cy="1131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2871216"/>
            <a:ext cx="914400" cy="548640"/>
            <a:chOff x="0" y="0"/>
            <a:chExt cx="12192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4480" y="2871216"/>
            <a:ext cx="4572000" cy="548640"/>
            <a:chOff x="0" y="0"/>
            <a:chExt cx="60960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Green Manufacturing Grant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17920" y="2871216"/>
            <a:ext cx="2103120" cy="548640"/>
            <a:chOff x="0" y="0"/>
            <a:chExt cx="28041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-3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3626615"/>
            <a:ext cx="7889243" cy="848363"/>
            <a:chOff x="0" y="0"/>
            <a:chExt cx="10518991" cy="11311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0080" y="3767328"/>
            <a:ext cx="914400" cy="548640"/>
            <a:chOff x="0" y="0"/>
            <a:chExt cx="12192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54480" y="3767328"/>
            <a:ext cx="4572000" cy="548640"/>
            <a:chOff x="0" y="0"/>
            <a:chExt cx="60960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Factory Retrofit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17920" y="3767328"/>
            <a:ext cx="2103120" cy="548640"/>
            <a:chOff x="0" y="0"/>
            <a:chExt cx="28041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</a:t>
              </a: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 🌍 +1 Global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5943" y="4522727"/>
            <a:ext cx="7889243" cy="848363"/>
            <a:chOff x="0" y="0"/>
            <a:chExt cx="10518991" cy="11311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0080" y="4663440"/>
            <a:ext cx="914400" cy="548640"/>
            <a:chOff x="0" y="0"/>
            <a:chExt cx="12192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54480" y="4663440"/>
            <a:ext cx="4572000" cy="548640"/>
            <a:chOff x="0" y="0"/>
            <a:chExt cx="60960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Sports Complex Construction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198870" y="4663440"/>
            <a:ext cx="2103120" cy="548640"/>
            <a:chOff x="0" y="0"/>
            <a:chExt cx="28041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+3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5943" y="5418839"/>
            <a:ext cx="7889243" cy="848363"/>
            <a:chOff x="0" y="0"/>
            <a:chExt cx="10518991" cy="11311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40080" y="5559552"/>
            <a:ext cx="914400" cy="548640"/>
            <a:chOff x="0" y="0"/>
            <a:chExt cx="12192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54480" y="5559552"/>
            <a:ext cx="4572000" cy="548640"/>
            <a:chOff x="0" y="0"/>
            <a:chExt cx="60960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 Club Initiative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217920" y="5559552"/>
            <a:ext cx="2103120" cy="548640"/>
            <a:chOff x="0" y="0"/>
            <a:chExt cx="28041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6314951"/>
            <a:ext cx="7889243" cy="848363"/>
            <a:chOff x="0" y="0"/>
            <a:chExt cx="10518991" cy="11311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40080" y="6455664"/>
            <a:ext cx="914400" cy="548640"/>
            <a:chOff x="0" y="0"/>
            <a:chExt cx="12192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54480" y="6455664"/>
            <a:ext cx="4572000" cy="548640"/>
            <a:chOff x="0" y="0"/>
            <a:chExt cx="60960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Bicycle Lane Network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217920" y="6455664"/>
            <a:ext cx="2103120" cy="548640"/>
            <a:chOff x="0" y="0"/>
            <a:chExt cx="280416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 😊+1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35943" y="7211063"/>
            <a:ext cx="7889243" cy="848363"/>
            <a:chOff x="0" y="0"/>
            <a:chExt cx="10518991" cy="113115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0080" y="7351776"/>
            <a:ext cx="914400" cy="548640"/>
            <a:chOff x="0" y="0"/>
            <a:chExt cx="121920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#06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54480" y="7351776"/>
            <a:ext cx="4572000" cy="548640"/>
            <a:chOff x="0" y="0"/>
            <a:chExt cx="609600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Electric Vehicale Subsidy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217920" y="7351776"/>
            <a:ext cx="2103120" cy="548640"/>
            <a:chOff x="0" y="0"/>
            <a:chExt cx="280416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35943" y="8107175"/>
            <a:ext cx="7889243" cy="848363"/>
            <a:chOff x="0" y="0"/>
            <a:chExt cx="10518991" cy="113115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40080" y="8247888"/>
            <a:ext cx="914400" cy="548640"/>
            <a:chOff x="0" y="0"/>
            <a:chExt cx="121920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54480" y="8247888"/>
            <a:ext cx="4572000" cy="548640"/>
            <a:chOff x="0" y="0"/>
            <a:chExt cx="609600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Bullet Train Proposal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217920" y="8247888"/>
            <a:ext cx="2103120" cy="548640"/>
            <a:chOff x="0" y="0"/>
            <a:chExt cx="2804160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+1 😊+2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35943" y="9003287"/>
            <a:ext cx="7889243" cy="848363"/>
            <a:chOff x="0" y="0"/>
            <a:chExt cx="10518991" cy="113115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40080" y="9144000"/>
            <a:ext cx="914400" cy="548640"/>
            <a:chOff x="0" y="0"/>
            <a:chExt cx="121920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#08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554480" y="9144000"/>
            <a:ext cx="4572000" cy="548640"/>
            <a:chOff x="0" y="0"/>
            <a:chExt cx="609600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Odd-E</a:t>
              </a: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 Rule (Delhi Style)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217920" y="9144000"/>
            <a:ext cx="2103120" cy="548640"/>
            <a:chOff x="0" y="0"/>
            <a:chExt cx="2804160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 😊+1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131303" y="2730503"/>
            <a:ext cx="8620763" cy="683771"/>
            <a:chOff x="0" y="0"/>
            <a:chExt cx="11494351" cy="91169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235440" y="2834640"/>
            <a:ext cx="914400" cy="493776"/>
            <a:chOff x="0" y="0"/>
            <a:chExt cx="1219200" cy="65836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#09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149840" y="2834640"/>
            <a:ext cx="5120640" cy="493776"/>
            <a:chOff x="0" y="0"/>
            <a:chExt cx="6827520" cy="65836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Vertical Farm Pilot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5270480" y="2834640"/>
            <a:ext cx="2377440" cy="493776"/>
            <a:chOff x="0" y="0"/>
            <a:chExt cx="3169920" cy="65836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💰+1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131303" y="3443735"/>
            <a:ext cx="8620763" cy="683771"/>
            <a:chOff x="0" y="0"/>
            <a:chExt cx="11494351" cy="911695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235440" y="3547872"/>
            <a:ext cx="914400" cy="493776"/>
            <a:chOff x="0" y="0"/>
            <a:chExt cx="1219200" cy="65836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#10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149840" y="3547872"/>
            <a:ext cx="5120640" cy="493776"/>
            <a:chOff x="0" y="0"/>
            <a:chExt cx="6827520" cy="65836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Renewable Energy Transition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5270480" y="3547872"/>
            <a:ext cx="2377440" cy="493776"/>
            <a:chOff x="0" y="0"/>
            <a:chExt cx="3169920" cy="65836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 💰+1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131303" y="4156967"/>
            <a:ext cx="8620763" cy="683771"/>
            <a:chOff x="0" y="0"/>
            <a:chExt cx="11494351" cy="911695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35440" y="4261104"/>
            <a:ext cx="914400" cy="493776"/>
            <a:chOff x="0" y="0"/>
            <a:chExt cx="1219200" cy="65836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#11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0149840" y="4261104"/>
            <a:ext cx="5120640" cy="493776"/>
            <a:chOff x="0" y="0"/>
            <a:chExt cx="6827520" cy="65836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Grid Int</a:t>
              </a: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egration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5270480" y="4261104"/>
            <a:ext cx="2377440" cy="493776"/>
            <a:chOff x="0" y="0"/>
            <a:chExt cx="3169920" cy="65836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💰+1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9131303" y="4870199"/>
            <a:ext cx="8620763" cy="683771"/>
            <a:chOff x="0" y="0"/>
            <a:chExt cx="11494351" cy="911695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35440" y="4974336"/>
            <a:ext cx="914400" cy="493776"/>
            <a:chOff x="0" y="0"/>
            <a:chExt cx="1219200" cy="65836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#12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0149840" y="4974336"/>
            <a:ext cx="5120640" cy="493776"/>
            <a:chOff x="0" y="0"/>
            <a:chExt cx="6827520" cy="65836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Library </a:t>
              </a: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Expansion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5270480" y="4974336"/>
            <a:ext cx="2377440" cy="493776"/>
            <a:chOff x="0" y="0"/>
            <a:chExt cx="3169920" cy="65836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😊+2 ⚙️ +1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131303" y="5583431"/>
            <a:ext cx="8620763" cy="683771"/>
            <a:chOff x="0" y="0"/>
            <a:chExt cx="11494351" cy="911695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235440" y="5687568"/>
            <a:ext cx="914400" cy="493776"/>
            <a:chOff x="0" y="0"/>
            <a:chExt cx="1219200" cy="65836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#13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0149840" y="5687568"/>
            <a:ext cx="5120640" cy="493776"/>
            <a:chOff x="0" y="0"/>
            <a:chExt cx="6827520" cy="65836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Waste-to-Energy Plant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5270480" y="5687568"/>
            <a:ext cx="2377440" cy="493776"/>
            <a:chOff x="0" y="0"/>
            <a:chExt cx="3169920" cy="65836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💰+1 🏭 -1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9131303" y="6296663"/>
            <a:ext cx="8620763" cy="683771"/>
            <a:chOff x="0" y="0"/>
            <a:chExt cx="11494351" cy="911695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235440" y="6400800"/>
            <a:ext cx="914400" cy="493776"/>
            <a:chOff x="0" y="0"/>
            <a:chExt cx="1219200" cy="658368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#14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0149840" y="6400800"/>
            <a:ext cx="5120640" cy="493776"/>
            <a:chOff x="0" y="0"/>
            <a:chExt cx="6827520" cy="658368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Heritage Restoration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5270480" y="6400800"/>
            <a:ext cx="2377440" cy="493776"/>
            <a:chOff x="0" y="0"/>
            <a:chExt cx="3169920" cy="658368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😊+2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9131303" y="7009895"/>
            <a:ext cx="8620763" cy="683771"/>
            <a:chOff x="0" y="0"/>
            <a:chExt cx="11494351" cy="911695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9235440" y="7114032"/>
            <a:ext cx="914400" cy="493776"/>
            <a:chOff x="0" y="0"/>
            <a:chExt cx="1219200" cy="65836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#15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0149840" y="7114032"/>
            <a:ext cx="5120640" cy="493776"/>
            <a:chOff x="0" y="0"/>
            <a:chExt cx="6827520" cy="65836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</a:t>
              </a: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sity Tech Park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5270480" y="7114032"/>
            <a:ext cx="2377440" cy="493776"/>
            <a:chOff x="0" y="0"/>
            <a:chExt cx="3169920" cy="658368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💰+1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9131303" y="7723127"/>
            <a:ext cx="8620763" cy="683771"/>
            <a:chOff x="0" y="0"/>
            <a:chExt cx="11494351" cy="911695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9131303" y="8436359"/>
            <a:ext cx="8620763" cy="683771"/>
            <a:chOff x="0" y="0"/>
            <a:chExt cx="11494351" cy="911695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9131303" y="9149591"/>
            <a:ext cx="8620763" cy="683771"/>
            <a:chOff x="0" y="0"/>
            <a:chExt cx="11494351" cy="911695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sp>
        <p:nvSpPr>
          <p:cNvPr name="TextBox 203" id="203"/>
          <p:cNvSpPr txBox="true"/>
          <p:nvPr/>
        </p:nvSpPr>
        <p:spPr>
          <a:xfrm rot="0">
            <a:off x="535943" y="2025653"/>
            <a:ext cx="1720342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b="true" sz="2798" i="true" strike="noStrike" u="none">
                <a:solidFill>
                  <a:srgbClr val="FFFFFF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Spend Capital or Resources to unlock these ⭐ positive upgrades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✨  POSITIVE EVENT CARDS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852679"/>
            <a:ext cx="17216123" cy="756923"/>
            <a:chOff x="0" y="0"/>
            <a:chExt cx="22954831" cy="1009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6860" y="16891"/>
              <a:ext cx="22880916" cy="975360"/>
            </a:xfrm>
            <a:custGeom>
              <a:avLst/>
              <a:gdLst/>
              <a:ahLst/>
              <a:cxnLst/>
              <a:rect r="r" b="b" t="t" l="l"/>
              <a:pathLst>
                <a:path h="975360" w="22880916">
                  <a:moveTo>
                    <a:pt x="0" y="0"/>
                  </a:moveTo>
                  <a:lnTo>
                    <a:pt x="22880916" y="0"/>
                  </a:lnTo>
                  <a:lnTo>
                    <a:pt x="22880916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A6B8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636" cy="1009144"/>
            </a:xfrm>
            <a:custGeom>
              <a:avLst/>
              <a:gdLst/>
              <a:ahLst/>
              <a:cxnLst/>
              <a:rect r="r" b="b" t="t" l="l"/>
              <a:pathLst>
                <a:path h="1009144" w="22954636">
                  <a:moveTo>
                    <a:pt x="36860" y="0"/>
                  </a:moveTo>
                  <a:lnTo>
                    <a:pt x="22917776" y="0"/>
                  </a:lnTo>
                  <a:cubicBezTo>
                    <a:pt x="22938285" y="0"/>
                    <a:pt x="22954636" y="7620"/>
                    <a:pt x="22954636" y="16891"/>
                  </a:cubicBezTo>
                  <a:lnTo>
                    <a:pt x="22954636" y="992251"/>
                  </a:lnTo>
                  <a:cubicBezTo>
                    <a:pt x="22954636" y="1001649"/>
                    <a:pt x="22938008" y="1009142"/>
                    <a:pt x="22917776" y="1009142"/>
                  </a:cubicBezTo>
                  <a:lnTo>
                    <a:pt x="36860" y="1009142"/>
                  </a:lnTo>
                  <a:cubicBezTo>
                    <a:pt x="16629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16629" y="0"/>
                    <a:pt x="36860" y="0"/>
                  </a:cubicBezTo>
                  <a:moveTo>
                    <a:pt x="36860" y="33909"/>
                  </a:moveTo>
                  <a:lnTo>
                    <a:pt x="36860" y="16891"/>
                  </a:lnTo>
                  <a:lnTo>
                    <a:pt x="73997" y="16891"/>
                  </a:lnTo>
                  <a:lnTo>
                    <a:pt x="73997" y="992251"/>
                  </a:lnTo>
                  <a:lnTo>
                    <a:pt x="36860" y="992251"/>
                  </a:lnTo>
                  <a:lnTo>
                    <a:pt x="36860" y="975360"/>
                  </a:lnTo>
                  <a:lnTo>
                    <a:pt x="22917776" y="975360"/>
                  </a:lnTo>
                  <a:lnTo>
                    <a:pt x="22917776" y="992251"/>
                  </a:lnTo>
                  <a:lnTo>
                    <a:pt x="22880917" y="992251"/>
                  </a:lnTo>
                  <a:lnTo>
                    <a:pt x="22880917" y="16891"/>
                  </a:lnTo>
                  <a:lnTo>
                    <a:pt x="22917776" y="16891"/>
                  </a:lnTo>
                  <a:lnTo>
                    <a:pt x="22917776" y="33909"/>
                  </a:lnTo>
                  <a:lnTo>
                    <a:pt x="36860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2730503"/>
            <a:ext cx="7889243" cy="848363"/>
            <a:chOff x="0" y="0"/>
            <a:chExt cx="10518991" cy="1131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2871216"/>
            <a:ext cx="914400" cy="548640"/>
            <a:chOff x="0" y="0"/>
            <a:chExt cx="12192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4480" y="2871216"/>
            <a:ext cx="4572000" cy="548640"/>
            <a:chOff x="0" y="0"/>
            <a:chExt cx="60960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Ozone Layer Repaired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17920" y="2871216"/>
            <a:ext cx="2103120" cy="548640"/>
            <a:chOff x="0" y="0"/>
            <a:chExt cx="28041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</a:t>
              </a: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💰+1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3626615"/>
            <a:ext cx="7889243" cy="848363"/>
            <a:chOff x="0" y="0"/>
            <a:chExt cx="10518991" cy="11311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0080" y="3767328"/>
            <a:ext cx="914400" cy="548640"/>
            <a:chOff x="0" y="0"/>
            <a:chExt cx="12192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54480" y="3767328"/>
            <a:ext cx="4572000" cy="548640"/>
            <a:chOff x="0" y="0"/>
            <a:chExt cx="60960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Engineering Convention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17920" y="3767328"/>
            <a:ext cx="2103120" cy="548640"/>
            <a:chOff x="0" y="0"/>
            <a:chExt cx="28041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💰+2😊+1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5943" y="4522727"/>
            <a:ext cx="7889243" cy="848363"/>
            <a:chOff x="0" y="0"/>
            <a:chExt cx="10518991" cy="11311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0080" y="4663440"/>
            <a:ext cx="914400" cy="548640"/>
            <a:chOff x="0" y="0"/>
            <a:chExt cx="12192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54480" y="4663440"/>
            <a:ext cx="4572000" cy="548640"/>
            <a:chOff x="0" y="0"/>
            <a:chExt cx="60960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Community Garden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198870" y="4663440"/>
            <a:ext cx="2103120" cy="548640"/>
            <a:chOff x="0" y="0"/>
            <a:chExt cx="28041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-1💰+1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5943" y="5418839"/>
            <a:ext cx="7889243" cy="848363"/>
            <a:chOff x="0" y="0"/>
            <a:chExt cx="10518991" cy="11311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40080" y="5559552"/>
            <a:ext cx="914400" cy="548640"/>
            <a:chOff x="0" y="0"/>
            <a:chExt cx="12192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54480" y="5559552"/>
            <a:ext cx="4572000" cy="548640"/>
            <a:chOff x="0" y="0"/>
            <a:chExt cx="60960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Youth Leadership Program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217920" y="5559552"/>
            <a:ext cx="2103120" cy="548640"/>
            <a:chOff x="0" y="0"/>
            <a:chExt cx="28041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😊+1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6314951"/>
            <a:ext cx="7889243" cy="848363"/>
            <a:chOff x="0" y="0"/>
            <a:chExt cx="10518991" cy="11311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40080" y="6455664"/>
            <a:ext cx="914400" cy="548640"/>
            <a:chOff x="0" y="0"/>
            <a:chExt cx="12192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54480" y="6455664"/>
            <a:ext cx="4572000" cy="548640"/>
            <a:chOff x="0" y="0"/>
            <a:chExt cx="60960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Reforestation Success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217920" y="6455664"/>
            <a:ext cx="2103120" cy="548640"/>
            <a:chOff x="0" y="0"/>
            <a:chExt cx="280416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35943" y="7211063"/>
            <a:ext cx="7889243" cy="848363"/>
            <a:chOff x="0" y="0"/>
            <a:chExt cx="10518991" cy="113115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0080" y="7351776"/>
            <a:ext cx="914400" cy="548640"/>
            <a:chOff x="0" y="0"/>
            <a:chExt cx="121920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#06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54480" y="7351776"/>
            <a:ext cx="4572000" cy="548640"/>
            <a:chOff x="0" y="0"/>
            <a:chExt cx="609600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Endangered Species Sighted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217920" y="7351776"/>
            <a:ext cx="2103120" cy="548640"/>
            <a:chOff x="0" y="0"/>
            <a:chExt cx="280416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</a:t>
              </a: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-1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35943" y="8107175"/>
            <a:ext cx="7889243" cy="848363"/>
            <a:chOff x="0" y="0"/>
            <a:chExt cx="10518991" cy="113115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40080" y="8247888"/>
            <a:ext cx="914400" cy="548640"/>
            <a:chOff x="0" y="0"/>
            <a:chExt cx="121920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54480" y="8247888"/>
            <a:ext cx="4572000" cy="548640"/>
            <a:chOff x="0" y="0"/>
            <a:chExt cx="609600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Renewable Breakthrough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217920" y="8247888"/>
            <a:ext cx="2103120" cy="548640"/>
            <a:chOff x="0" y="0"/>
            <a:chExt cx="2804160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😊+2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35943" y="9003287"/>
            <a:ext cx="7889243" cy="848363"/>
            <a:chOff x="0" y="0"/>
            <a:chExt cx="10518991" cy="113115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40080" y="9144000"/>
            <a:ext cx="914400" cy="548640"/>
            <a:chOff x="0" y="0"/>
            <a:chExt cx="121920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#08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554480" y="9144000"/>
            <a:ext cx="4572000" cy="548640"/>
            <a:chOff x="0" y="0"/>
            <a:chExt cx="609600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 Boom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217920" y="9144000"/>
            <a:ext cx="2103120" cy="548640"/>
            <a:chOff x="0" y="0"/>
            <a:chExt cx="2804160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-3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131303" y="2730503"/>
            <a:ext cx="8620763" cy="683771"/>
            <a:chOff x="0" y="0"/>
            <a:chExt cx="11494351" cy="91169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235440" y="2834640"/>
            <a:ext cx="914400" cy="493776"/>
            <a:chOff x="0" y="0"/>
            <a:chExt cx="1219200" cy="65836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#09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149840" y="2834640"/>
            <a:ext cx="5120640" cy="493776"/>
            <a:chOff x="0" y="0"/>
            <a:chExt cx="6827520" cy="65836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Green Bond Issuance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5270480" y="2834640"/>
            <a:ext cx="2377440" cy="493776"/>
            <a:chOff x="0" y="0"/>
            <a:chExt cx="3169920" cy="65836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💰+3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131303" y="3443735"/>
            <a:ext cx="8620763" cy="683771"/>
            <a:chOff x="0" y="0"/>
            <a:chExt cx="11494351" cy="911695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235440" y="3547872"/>
            <a:ext cx="914400" cy="493776"/>
            <a:chOff x="0" y="0"/>
            <a:chExt cx="1219200" cy="65836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#10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149840" y="3547872"/>
            <a:ext cx="5120640" cy="493776"/>
            <a:chOff x="0" y="0"/>
            <a:chExt cx="6827520" cy="65836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Philanthropic Donation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5270480" y="3547872"/>
            <a:ext cx="2377440" cy="493776"/>
            <a:chOff x="0" y="0"/>
            <a:chExt cx="3169920" cy="65836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💰+3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131303" y="4156967"/>
            <a:ext cx="8620763" cy="683771"/>
            <a:chOff x="0" y="0"/>
            <a:chExt cx="11494351" cy="911695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35440" y="4261104"/>
            <a:ext cx="914400" cy="493776"/>
            <a:chOff x="0" y="0"/>
            <a:chExt cx="1219200" cy="65836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#11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0149840" y="4261104"/>
            <a:ext cx="5120640" cy="493776"/>
            <a:chOff x="0" y="0"/>
            <a:chExt cx="6827520" cy="65836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Grid Int</a:t>
              </a:r>
              <a:r>
                <a:rPr lang="en-US" sz="1700">
                  <a:solidFill>
                    <a:srgbClr val="F5E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egration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5270480" y="4261104"/>
            <a:ext cx="2377440" cy="493776"/>
            <a:chOff x="0" y="0"/>
            <a:chExt cx="3169920" cy="65836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💰+1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9131303" y="4870199"/>
            <a:ext cx="8620763" cy="683771"/>
            <a:chOff x="0" y="0"/>
            <a:chExt cx="11494351" cy="911695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35440" y="4974336"/>
            <a:ext cx="914400" cy="493776"/>
            <a:chOff x="0" y="0"/>
            <a:chExt cx="1219200" cy="65836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#12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0149840" y="4974336"/>
            <a:ext cx="5120640" cy="493776"/>
            <a:chOff x="0" y="0"/>
            <a:chExt cx="6827520" cy="65836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Sustainable City Award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5270480" y="4974336"/>
            <a:ext cx="2377440" cy="493776"/>
            <a:chOff x="0" y="0"/>
            <a:chExt cx="3169920" cy="65836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😊+1💰+2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131303" y="5583431"/>
            <a:ext cx="8620763" cy="683771"/>
            <a:chOff x="0" y="0"/>
            <a:chExt cx="11494351" cy="911695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235440" y="5687568"/>
            <a:ext cx="914400" cy="493776"/>
            <a:chOff x="0" y="0"/>
            <a:chExt cx="1219200" cy="65836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#13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0149840" y="5687568"/>
            <a:ext cx="5120640" cy="493776"/>
            <a:chOff x="0" y="0"/>
            <a:chExt cx="6827520" cy="65836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Coral Reef Restoration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5270480" y="5687568"/>
            <a:ext cx="2377440" cy="493776"/>
            <a:chOff x="0" y="0"/>
            <a:chExt cx="3169920" cy="65836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9131303" y="6296663"/>
            <a:ext cx="8620763" cy="683771"/>
            <a:chOff x="0" y="0"/>
            <a:chExt cx="11494351" cy="911695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235440" y="6400800"/>
            <a:ext cx="914400" cy="493776"/>
            <a:chOff x="0" y="0"/>
            <a:chExt cx="1219200" cy="658368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#14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0149840" y="6400800"/>
            <a:ext cx="5120640" cy="493776"/>
            <a:chOff x="0" y="0"/>
            <a:chExt cx="6827520" cy="658368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Plastic-Eating Bacteria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5270480" y="6400800"/>
            <a:ext cx="2377440" cy="493776"/>
            <a:chOff x="0" y="0"/>
            <a:chExt cx="3169920" cy="658368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-2💰+1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9131303" y="7009895"/>
            <a:ext cx="8620763" cy="683771"/>
            <a:chOff x="0" y="0"/>
            <a:chExt cx="11494351" cy="911695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9235440" y="7114032"/>
            <a:ext cx="914400" cy="493776"/>
            <a:chOff x="0" y="0"/>
            <a:chExt cx="1219200" cy="65836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219200" cy="658368"/>
            </a:xfrm>
            <a:custGeom>
              <a:avLst/>
              <a:gdLst/>
              <a:ahLst/>
              <a:cxnLst/>
              <a:rect r="r" b="b" t="t" l="l"/>
              <a:pathLst>
                <a:path h="65836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28575"/>
              <a:ext cx="12192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#15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0149840" y="7114032"/>
            <a:ext cx="5120640" cy="493776"/>
            <a:chOff x="0" y="0"/>
            <a:chExt cx="6827520" cy="65836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682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67" r="0" b="-152067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682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 Whales Return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5270480" y="7114032"/>
            <a:ext cx="2377440" cy="493776"/>
            <a:chOff x="0" y="0"/>
            <a:chExt cx="3169920" cy="658368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169920" cy="658368"/>
            </a:xfrm>
            <a:custGeom>
              <a:avLst/>
              <a:gdLst/>
              <a:ahLst/>
              <a:cxnLst/>
              <a:rect r="r" b="b" t="t" l="l"/>
              <a:pathLst>
                <a:path h="65836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28575"/>
              <a:ext cx="316992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9131303" y="7723127"/>
            <a:ext cx="8620763" cy="683771"/>
            <a:chOff x="0" y="0"/>
            <a:chExt cx="11494351" cy="911695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9131303" y="8436359"/>
            <a:ext cx="8620763" cy="683771"/>
            <a:chOff x="0" y="0"/>
            <a:chExt cx="11494351" cy="911695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9131303" y="9149591"/>
            <a:ext cx="8620763" cy="683771"/>
            <a:chOff x="0" y="0"/>
            <a:chExt cx="11494351" cy="911695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16891" y="16891"/>
              <a:ext cx="11460481" cy="877824"/>
            </a:xfrm>
            <a:custGeom>
              <a:avLst/>
              <a:gdLst/>
              <a:ahLst/>
              <a:cxnLst/>
              <a:rect r="r" b="b" t="t" l="l"/>
              <a:pathLst>
                <a:path h="87782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11494262" cy="911608"/>
            </a:xfrm>
            <a:custGeom>
              <a:avLst/>
              <a:gdLst/>
              <a:ahLst/>
              <a:cxnLst/>
              <a:rect r="r" b="b" t="t" l="l"/>
              <a:pathLst>
                <a:path h="91160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894715"/>
                  </a:lnTo>
                  <a:cubicBezTo>
                    <a:pt x="11494262" y="904113"/>
                    <a:pt x="11486642" y="911606"/>
                    <a:pt x="11477372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477372" y="877824"/>
                  </a:lnTo>
                  <a:lnTo>
                    <a:pt x="11477372" y="894715"/>
                  </a:lnTo>
                  <a:lnTo>
                    <a:pt x="11460480" y="89471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E35"/>
            </a:solidFill>
          </p:spPr>
        </p:sp>
      </p:grpSp>
      <p:sp>
        <p:nvSpPr>
          <p:cNvPr name="TextBox 203" id="203"/>
          <p:cNvSpPr txBox="true"/>
          <p:nvPr/>
        </p:nvSpPr>
        <p:spPr>
          <a:xfrm rot="0">
            <a:off x="535943" y="2025653"/>
            <a:ext cx="1720342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b="true" sz="2798" i="true" strike="noStrike" u="none">
                <a:solidFill>
                  <a:srgbClr val="FFFFFF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These are rewards, breakthroughs, or global triumphs that trigger on their own.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✨  POSITIVE EVENT CARDS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852679"/>
            <a:ext cx="17216123" cy="756923"/>
            <a:chOff x="0" y="0"/>
            <a:chExt cx="22954831" cy="1009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6860" y="16891"/>
              <a:ext cx="22880916" cy="975360"/>
            </a:xfrm>
            <a:custGeom>
              <a:avLst/>
              <a:gdLst/>
              <a:ahLst/>
              <a:cxnLst/>
              <a:rect r="r" b="b" t="t" l="l"/>
              <a:pathLst>
                <a:path h="975360" w="22880916">
                  <a:moveTo>
                    <a:pt x="0" y="0"/>
                  </a:moveTo>
                  <a:lnTo>
                    <a:pt x="22880916" y="0"/>
                  </a:lnTo>
                  <a:lnTo>
                    <a:pt x="22880916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A6B8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636" cy="1009144"/>
            </a:xfrm>
            <a:custGeom>
              <a:avLst/>
              <a:gdLst/>
              <a:ahLst/>
              <a:cxnLst/>
              <a:rect r="r" b="b" t="t" l="l"/>
              <a:pathLst>
                <a:path h="1009144" w="22954636">
                  <a:moveTo>
                    <a:pt x="36860" y="0"/>
                  </a:moveTo>
                  <a:lnTo>
                    <a:pt x="22917776" y="0"/>
                  </a:lnTo>
                  <a:cubicBezTo>
                    <a:pt x="22938285" y="0"/>
                    <a:pt x="22954636" y="7620"/>
                    <a:pt x="22954636" y="16891"/>
                  </a:cubicBezTo>
                  <a:lnTo>
                    <a:pt x="22954636" y="992251"/>
                  </a:lnTo>
                  <a:cubicBezTo>
                    <a:pt x="22954636" y="1001649"/>
                    <a:pt x="22938008" y="1009142"/>
                    <a:pt x="22917776" y="1009142"/>
                  </a:cubicBezTo>
                  <a:lnTo>
                    <a:pt x="36860" y="1009142"/>
                  </a:lnTo>
                  <a:cubicBezTo>
                    <a:pt x="16629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16629" y="0"/>
                    <a:pt x="36860" y="0"/>
                  </a:cubicBezTo>
                  <a:moveTo>
                    <a:pt x="36860" y="33909"/>
                  </a:moveTo>
                  <a:lnTo>
                    <a:pt x="36860" y="16891"/>
                  </a:lnTo>
                  <a:lnTo>
                    <a:pt x="73997" y="16891"/>
                  </a:lnTo>
                  <a:lnTo>
                    <a:pt x="73997" y="992251"/>
                  </a:lnTo>
                  <a:lnTo>
                    <a:pt x="36860" y="992251"/>
                  </a:lnTo>
                  <a:lnTo>
                    <a:pt x="36860" y="975360"/>
                  </a:lnTo>
                  <a:lnTo>
                    <a:pt x="22917776" y="975360"/>
                  </a:lnTo>
                  <a:lnTo>
                    <a:pt x="22917776" y="992251"/>
                  </a:lnTo>
                  <a:lnTo>
                    <a:pt x="22880917" y="992251"/>
                  </a:lnTo>
                  <a:lnTo>
                    <a:pt x="22880917" y="16891"/>
                  </a:lnTo>
                  <a:lnTo>
                    <a:pt x="22917776" y="16891"/>
                  </a:lnTo>
                  <a:lnTo>
                    <a:pt x="22917776" y="33909"/>
                  </a:lnTo>
                  <a:lnTo>
                    <a:pt x="36860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2730503"/>
            <a:ext cx="7889243" cy="848363"/>
            <a:chOff x="0" y="0"/>
            <a:chExt cx="10518991" cy="1131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2871216"/>
            <a:ext cx="914400" cy="548640"/>
            <a:chOff x="0" y="0"/>
            <a:chExt cx="12192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4480" y="2871216"/>
            <a:ext cx="4572000" cy="548640"/>
            <a:chOff x="0" y="0"/>
            <a:chExt cx="60960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Beehive Fence Success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17920" y="2871216"/>
            <a:ext cx="2103120" cy="548640"/>
            <a:chOff x="0" y="0"/>
            <a:chExt cx="28041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-1 </a:t>
              </a: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💰+1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3626615"/>
            <a:ext cx="7889243" cy="848363"/>
            <a:chOff x="0" y="0"/>
            <a:chExt cx="10518991" cy="11311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0080" y="3767328"/>
            <a:ext cx="914400" cy="548640"/>
            <a:chOff x="0" y="0"/>
            <a:chExt cx="12192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#17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54480" y="3767328"/>
            <a:ext cx="4572000" cy="548640"/>
            <a:chOff x="0" y="0"/>
            <a:chExt cx="60960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Carbon Capture Breakthrough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17920" y="3767328"/>
            <a:ext cx="2103120" cy="548640"/>
            <a:chOff x="0" y="0"/>
            <a:chExt cx="28041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-2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5943" y="4522727"/>
            <a:ext cx="7889243" cy="848363"/>
            <a:chOff x="0" y="0"/>
            <a:chExt cx="10518991" cy="11311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0080" y="4663440"/>
            <a:ext cx="914400" cy="548640"/>
            <a:chOff x="0" y="0"/>
            <a:chExt cx="12192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#18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54480" y="4663440"/>
            <a:ext cx="4572000" cy="548640"/>
            <a:chOff x="0" y="0"/>
            <a:chExt cx="60960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Record Harvest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198870" y="4663440"/>
            <a:ext cx="2103120" cy="548640"/>
            <a:chOff x="0" y="0"/>
            <a:chExt cx="28041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💰+3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5943" y="5418839"/>
            <a:ext cx="7889243" cy="848363"/>
            <a:chOff x="0" y="0"/>
            <a:chExt cx="10518991" cy="11311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40080" y="5559552"/>
            <a:ext cx="914400" cy="548640"/>
            <a:chOff x="0" y="0"/>
            <a:chExt cx="12192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#19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54480" y="5559552"/>
            <a:ext cx="4572000" cy="548640"/>
            <a:chOff x="0" y="0"/>
            <a:chExt cx="60960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Car-Free Sunday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217920" y="5559552"/>
            <a:ext cx="2103120" cy="548640"/>
            <a:chOff x="0" y="0"/>
            <a:chExt cx="28041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😊+1 🏭 -1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6314951"/>
            <a:ext cx="7889243" cy="848363"/>
            <a:chOff x="0" y="0"/>
            <a:chExt cx="10518991" cy="11311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40080" y="6455664"/>
            <a:ext cx="914400" cy="548640"/>
            <a:chOff x="0" y="0"/>
            <a:chExt cx="12192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#20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54480" y="6455664"/>
            <a:ext cx="4572000" cy="548640"/>
            <a:chOff x="0" y="0"/>
            <a:chExt cx="60960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Freshwater Aquifer Discovered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217920" y="6455664"/>
            <a:ext cx="2103120" cy="548640"/>
            <a:chOff x="0" y="0"/>
            <a:chExt cx="280416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💰+3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35943" y="7211063"/>
            <a:ext cx="7889243" cy="848363"/>
            <a:chOff x="0" y="0"/>
            <a:chExt cx="10518991" cy="113115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D1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8A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0080" y="7351776"/>
            <a:ext cx="914400" cy="548640"/>
            <a:chOff x="0" y="0"/>
            <a:chExt cx="121920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4A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#21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54480" y="7351776"/>
            <a:ext cx="4572000" cy="548640"/>
            <a:chOff x="0" y="0"/>
            <a:chExt cx="609600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E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Zero-Emission Fleet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217920" y="7351776"/>
            <a:ext cx="2103120" cy="548640"/>
            <a:chOff x="0" y="0"/>
            <a:chExt cx="280416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80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28041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EC8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😊+1🏭 -1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535943" y="2025653"/>
            <a:ext cx="1720342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b="true" sz="2798" i="true" strike="noStrike" u="none">
                <a:solidFill>
                  <a:srgbClr val="FFFFFF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These are rewards, breakthroughs, or global triumphs that trigger on their own.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sz="5700">
                  <a:solidFill>
                    <a:srgbClr val="2A9D8F"/>
                  </a:solidFill>
                  <a:latin typeface="Alice Bold"/>
                  <a:ea typeface="Alice Bold"/>
                  <a:cs typeface="Alice Bold"/>
                  <a:sym typeface="Alice Bold"/>
                </a:rPr>
                <a:t>🌿</a:t>
              </a:r>
              <a:r>
                <a:rPr lang="en-US" sz="5700" i="true">
                  <a:solidFill>
                    <a:srgbClr val="2A9D8F"/>
                  </a:solidFill>
                  <a:latin typeface="Alice Bold Italics"/>
                  <a:ea typeface="Alice Bold Italics"/>
                  <a:cs typeface="Alice Bold Italics"/>
                  <a:sym typeface="Alice Bold Italics"/>
                </a:rPr>
                <a:t>  ECOLOGICAL DILEMMAS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8655" y="1816103"/>
            <a:ext cx="7515306" cy="2585723"/>
            <a:chOff x="0" y="0"/>
            <a:chExt cx="10020408" cy="3447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50778" y="2011680"/>
            <a:ext cx="1038606" cy="1038606"/>
            <a:chOff x="0" y="0"/>
            <a:chExt cx="146304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🌲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12952" y="2011680"/>
            <a:ext cx="6766560" cy="640080"/>
            <a:chOff x="0" y="0"/>
            <a:chExt cx="902208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Forest Decision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49528" y="2442972"/>
            <a:ext cx="6766560" cy="512064"/>
            <a:chOff x="0" y="0"/>
            <a:chExt cx="902208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large forest is discovered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0808" y="3050286"/>
            <a:ext cx="7955280" cy="417853"/>
            <a:chOff x="0" y="0"/>
            <a:chExt cx="10607040" cy="5571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Cut for Timber: 💰+4, 🏭−6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0808" y="3500247"/>
            <a:ext cx="7955280" cy="417853"/>
            <a:chOff x="0" y="0"/>
            <a:chExt cx="10607040" cy="5571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Protect: 🏭-6 + Biodiversity bonus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60808" y="3950208"/>
            <a:ext cx="7955280" cy="417853"/>
            <a:chOff x="0" y="0"/>
            <a:chExt cx="10607040" cy="5571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Eco Tourism: 💰+2, 🏭+4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792338" y="1816103"/>
            <a:ext cx="7196063" cy="2585723"/>
            <a:chOff x="0" y="0"/>
            <a:chExt cx="9594751" cy="34476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12432" y="2011680"/>
            <a:ext cx="964544" cy="964544"/>
            <a:chOff x="0" y="0"/>
            <a:chExt cx="146304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🌊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76635" y="2011680"/>
            <a:ext cx="6766560" cy="640080"/>
            <a:chOff x="0" y="0"/>
            <a:chExt cx="902208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River Dam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100801" y="2442972"/>
            <a:ext cx="6766560" cy="512064"/>
            <a:chOff x="0" y="0"/>
            <a:chExt cx="902208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major river flows through your city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24491" y="3012186"/>
            <a:ext cx="7955280" cy="417853"/>
            <a:chOff x="0" y="0"/>
            <a:chExt cx="10607040" cy="55713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Hydroelectric Dam: ⚡+5, 🏭−4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24491" y="3433572"/>
            <a:ext cx="7955280" cy="417853"/>
            <a:chOff x="0" y="0"/>
            <a:chExt cx="10607040" cy="5571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Protect River: 🏭+5, 🤗+2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24491" y="3893058"/>
            <a:ext cx="7955280" cy="417853"/>
            <a:chOff x="0" y="0"/>
            <a:chExt cx="10607040" cy="55713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Small Eco Dam: ⚡+3, 🏭−1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28655" y="4595879"/>
            <a:ext cx="7515306" cy="2585723"/>
            <a:chOff x="0" y="0"/>
            <a:chExt cx="10020408" cy="34476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50778" y="4791456"/>
            <a:ext cx="1002030" cy="1002030"/>
            <a:chOff x="0" y="0"/>
            <a:chExt cx="1463040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⛰️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512952" y="4791456"/>
            <a:ext cx="6766560" cy="640080"/>
            <a:chOff x="0" y="0"/>
            <a:chExt cx="902208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Rare Minerals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419483" y="5268601"/>
            <a:ext cx="6766560" cy="512064"/>
            <a:chOff x="0" y="0"/>
            <a:chExt cx="902208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Minerals found in nearby mountains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60808" y="5780665"/>
            <a:ext cx="7955280" cy="417853"/>
            <a:chOff x="0" y="0"/>
            <a:chExt cx="10607040" cy="55713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Open Mine: 💰+6, 🏭−6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60808" y="6202051"/>
            <a:ext cx="7955280" cy="417853"/>
            <a:chOff x="0" y="0"/>
            <a:chExt cx="10607040" cy="55713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Regulated Mining: 💰+3, 🏭−2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60808" y="6630419"/>
            <a:ext cx="7955280" cy="417853"/>
            <a:chOff x="0" y="0"/>
            <a:chExt cx="10607040" cy="55713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Ban Mining: 🏭+5, 💰−3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792338" y="4595879"/>
            <a:ext cx="7196063" cy="2585723"/>
            <a:chOff x="0" y="0"/>
            <a:chExt cx="9594751" cy="34476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003214" y="4791456"/>
            <a:ext cx="1002030" cy="1002030"/>
            <a:chOff x="0" y="0"/>
            <a:chExt cx="1463040" cy="14630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176635" y="4791456"/>
            <a:ext cx="6766560" cy="640080"/>
            <a:chOff x="0" y="0"/>
            <a:chExt cx="902208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Energy Demand Spike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176635" y="5220976"/>
            <a:ext cx="6766560" cy="512064"/>
            <a:chOff x="0" y="0"/>
            <a:chExt cx="902208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Energy demand suddenly surges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024491" y="5780665"/>
            <a:ext cx="7955280" cy="417853"/>
            <a:chOff x="0" y="0"/>
            <a:chExt cx="10607040" cy="55713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Coal Plant: ⚡+6, 🏭−7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024491" y="6202051"/>
            <a:ext cx="7955280" cy="417853"/>
            <a:chOff x="0" y="0"/>
            <a:chExt cx="10607040" cy="55713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Import Energy: ⚡+3, 💰−3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024491" y="6630419"/>
            <a:ext cx="7955280" cy="417853"/>
            <a:chOff x="0" y="0"/>
            <a:chExt cx="10607040" cy="55713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Solar Farms: ⚡+4, 🏭+4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28655" y="7375655"/>
            <a:ext cx="7515306" cy="2585723"/>
            <a:chOff x="0" y="0"/>
            <a:chExt cx="10020408" cy="344763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64618" y="7571232"/>
            <a:ext cx="998220" cy="998220"/>
            <a:chOff x="0" y="0"/>
            <a:chExt cx="1463040" cy="14630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🐢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512952" y="7571232"/>
            <a:ext cx="6766560" cy="640080"/>
            <a:chOff x="0" y="0"/>
            <a:chExt cx="902208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Sea Turtle Beach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512952" y="8000752"/>
            <a:ext cx="6766560" cy="512064"/>
            <a:chOff x="0" y="0"/>
            <a:chExt cx="9022080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Turtle nesting beach discovered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60808" y="8593264"/>
            <a:ext cx="7955280" cy="417853"/>
            <a:chOff x="0" y="0"/>
            <a:chExt cx="10607040" cy="55713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Build Resort: 💰+5, 🏭−7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60808" y="9011126"/>
            <a:ext cx="7955280" cy="417853"/>
            <a:chOff x="0" y="0"/>
            <a:chExt cx="10607040" cy="55713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Protect Nesting: 🏭+6, 🤗+2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60808" y="9428988"/>
            <a:ext cx="7955280" cy="417853"/>
            <a:chOff x="0" y="0"/>
            <a:chExt cx="10607040" cy="55713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Seasonal Tourism: 💰+3, 🏭+3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792338" y="7375655"/>
            <a:ext cx="7196063" cy="2585723"/>
            <a:chOff x="0" y="0"/>
            <a:chExt cx="9594751" cy="344763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0012432" y="7571232"/>
            <a:ext cx="1002030" cy="1002030"/>
            <a:chOff x="0" y="0"/>
            <a:chExt cx="1463040" cy="14630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🌏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176635" y="7571232"/>
            <a:ext cx="6766560" cy="640080"/>
            <a:chOff x="0" y="0"/>
            <a:chExt cx="9022080" cy="85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Climate Summit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1176635" y="8000752"/>
            <a:ext cx="6766560" cy="512064"/>
            <a:chOff x="0" y="0"/>
            <a:chExt cx="902208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90220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Invited to international summit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024491" y="8550916"/>
            <a:ext cx="7955280" cy="417853"/>
            <a:chOff x="0" y="0"/>
            <a:chExt cx="10607040" cy="55713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Aggressive Pact: 🏭-6, 💰−3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024491" y="8991352"/>
            <a:ext cx="7955280" cy="417853"/>
            <a:chOff x="0" y="0"/>
            <a:chExt cx="10607040" cy="55713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Moderate Agreement: 🏭-3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024491" y="9412738"/>
            <a:ext cx="7955280" cy="417853"/>
            <a:chOff x="0" y="0"/>
            <a:chExt cx="10607040" cy="55713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Reject: 💰+2, 🤗−4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sz="5700">
                  <a:solidFill>
                    <a:srgbClr val="2A9D8F"/>
                  </a:solidFill>
                  <a:latin typeface="Alice Bold"/>
                  <a:ea typeface="Alice Bold"/>
                  <a:cs typeface="Alice Bold"/>
                  <a:sym typeface="Alice Bold"/>
                </a:rPr>
                <a:t>🌿</a:t>
              </a:r>
              <a:r>
                <a:rPr lang="en-US" sz="5700" i="true">
                  <a:solidFill>
                    <a:srgbClr val="2A9D8F"/>
                  </a:solidFill>
                  <a:latin typeface="Alice Bold Italics"/>
                  <a:ea typeface="Alice Bold Italics"/>
                  <a:cs typeface="Alice Bold Italics"/>
                  <a:sym typeface="Alice Bold Italics"/>
                </a:rPr>
                <a:t>  ECOLOGICAL DILEMMAS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8655" y="1816103"/>
            <a:ext cx="7515306" cy="2585723"/>
            <a:chOff x="0" y="0"/>
            <a:chExt cx="10020408" cy="3447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50778" y="2011680"/>
            <a:ext cx="1038606" cy="1038606"/>
            <a:chOff x="0" y="0"/>
            <a:chExt cx="146304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🌲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12952" y="2011680"/>
            <a:ext cx="6766560" cy="640080"/>
            <a:chOff x="0" y="0"/>
            <a:chExt cx="902208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Population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49528" y="2442972"/>
            <a:ext cx="6766560" cy="512064"/>
            <a:chOff x="0" y="0"/>
            <a:chExt cx="902208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City population  is growing rapidly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0808" y="3050286"/>
            <a:ext cx="7955280" cy="417853"/>
            <a:chOff x="0" y="0"/>
            <a:chExt cx="10607040" cy="5571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Expand into Green Land: 💰+4, 🏭 +5 , 🤗 +5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0808" y="3500247"/>
            <a:ext cx="7955280" cy="732178"/>
            <a:chOff x="0" y="0"/>
            <a:chExt cx="10607040" cy="9762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07040" cy="976238"/>
            </a:xfrm>
            <a:custGeom>
              <a:avLst/>
              <a:gdLst/>
              <a:ahLst/>
              <a:cxnLst/>
              <a:rect r="r" b="b" t="t" l="l"/>
              <a:pathLst>
                <a:path h="9762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234" r="0" b="-13918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607040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High-Density Smart Housing : 🏭 -2,💰+4,Housing +4</a:t>
              </a:r>
            </a:p>
            <a:p>
              <a:pPr algn="l">
                <a:lnSpc>
                  <a:spcPts val="25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60808" y="3950208"/>
            <a:ext cx="7955280" cy="417853"/>
            <a:chOff x="0" y="0"/>
            <a:chExt cx="10607040" cy="5571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Limit Expansion: Housing -3, 🏭 -4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792338" y="1816103"/>
            <a:ext cx="7196063" cy="2585723"/>
            <a:chOff x="0" y="0"/>
            <a:chExt cx="9594751" cy="34476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12432" y="2011680"/>
            <a:ext cx="964544" cy="964544"/>
            <a:chOff x="0" y="0"/>
            <a:chExt cx="146304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🌊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38901" y="1981581"/>
            <a:ext cx="6766560" cy="640080"/>
            <a:chOff x="0" y="0"/>
            <a:chExt cx="902208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Wind Energy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100801" y="2530983"/>
            <a:ext cx="6766560" cy="424053"/>
            <a:chOff x="0" y="0"/>
            <a:chExt cx="9022080" cy="5654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2080" cy="565404"/>
            </a:xfrm>
            <a:custGeom>
              <a:avLst/>
              <a:gdLst/>
              <a:ahLst/>
              <a:cxnLst/>
              <a:rect r="r" b="b" t="t" l="l"/>
              <a:pathLst>
                <a:path h="565404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565404"/>
                  </a:lnTo>
                  <a:lnTo>
                    <a:pt x="0" y="5654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542" r="0" b="-27129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022080" cy="613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Windy Hill near City , Wind Energy Proposal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24491" y="3012186"/>
            <a:ext cx="7955280" cy="417853"/>
            <a:chOff x="0" y="0"/>
            <a:chExt cx="10607040" cy="55713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Build Large Wind Farm: Money +5, 🏭 -6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24491" y="3433572"/>
            <a:ext cx="7955280" cy="459486"/>
            <a:chOff x="0" y="0"/>
            <a:chExt cx="10607040" cy="6126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7040" cy="612648"/>
            </a:xfrm>
            <a:custGeom>
              <a:avLst/>
              <a:gdLst/>
              <a:ahLst/>
              <a:cxnLst/>
              <a:rect r="r" b="b" t="t" l="l"/>
              <a:pathLst>
                <a:path h="61264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12648"/>
                  </a:lnTo>
                  <a:lnTo>
                    <a:pt x="0" y="612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571" r="0" b="-28113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607040" cy="660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Small Turbines: 🏭 -3,  💰 -2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24491" y="3893058"/>
            <a:ext cx="7955280" cy="417853"/>
            <a:chOff x="0" y="0"/>
            <a:chExt cx="10607040" cy="55713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▸Ignore Wind Energy: 🏭 -2, 💰−3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28655" y="4595879"/>
            <a:ext cx="7515306" cy="2585723"/>
            <a:chOff x="0" y="0"/>
            <a:chExt cx="10020408" cy="34476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50778" y="4791456"/>
            <a:ext cx="1002030" cy="1002030"/>
            <a:chOff x="0" y="0"/>
            <a:chExt cx="1463040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⛰️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512952" y="4791456"/>
            <a:ext cx="6766560" cy="640080"/>
            <a:chOff x="0" y="0"/>
            <a:chExt cx="902208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Old Trees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419483" y="5292471"/>
            <a:ext cx="6766560" cy="411994"/>
            <a:chOff x="0" y="0"/>
            <a:chExt cx="9022080" cy="54932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022080" cy="549326"/>
            </a:xfrm>
            <a:custGeom>
              <a:avLst/>
              <a:gdLst/>
              <a:ahLst/>
              <a:cxnLst/>
              <a:rect r="r" b="b" t="t" l="l"/>
              <a:pathLst>
                <a:path h="54932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549326"/>
                  </a:lnTo>
                  <a:lnTo>
                    <a:pt x="0" y="5493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876" r="0" b="-28216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022080" cy="596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500 year old tree is discovered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60808" y="5780665"/>
            <a:ext cx="7955280" cy="417853"/>
            <a:chOff x="0" y="0"/>
            <a:chExt cx="10607040" cy="55713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Declare Heritage Tree:  🏭 -5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60808" y="6202051"/>
            <a:ext cx="7955280" cy="417853"/>
            <a:chOff x="0" y="0"/>
            <a:chExt cx="10607040" cy="55713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Create Learning Site: Education +3, 🏭 -3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60808" y="6630419"/>
            <a:ext cx="7955280" cy="417853"/>
            <a:chOff x="0" y="0"/>
            <a:chExt cx="10607040" cy="55713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Seed Propagation project: 🏭 -5,  Forest Frowth +2 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792338" y="4595879"/>
            <a:ext cx="7196063" cy="2585723"/>
            <a:chOff x="0" y="0"/>
            <a:chExt cx="9594751" cy="34476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176635" y="4791456"/>
            <a:ext cx="6766560" cy="640080"/>
            <a:chOff x="0" y="0"/>
            <a:chExt cx="9022080" cy="8534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Ocean Plastic Cleanup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176635" y="5220976"/>
            <a:ext cx="6766560" cy="512064"/>
            <a:chOff x="0" y="0"/>
            <a:chExt cx="902208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Plastic waste harming marine life 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024491" y="5780665"/>
            <a:ext cx="7955280" cy="417853"/>
            <a:chOff x="0" y="0"/>
            <a:chExt cx="10607040" cy="55713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▸Major Cleanup Campaign:  💰  -3, 🏭 -5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024491" y="6202051"/>
            <a:ext cx="7955280" cy="417853"/>
            <a:chOff x="0" y="0"/>
            <a:chExt cx="10607040" cy="55713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Limited Cleanup: 🏭 -2 , 💰−1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024491" y="6522369"/>
            <a:ext cx="7955280" cy="525904"/>
            <a:chOff x="0" y="0"/>
            <a:chExt cx="10607040" cy="70120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607040" cy="701205"/>
            </a:xfrm>
            <a:custGeom>
              <a:avLst/>
              <a:gdLst/>
              <a:ahLst/>
              <a:cxnLst/>
              <a:rect r="r" b="b" t="t" l="l"/>
              <a:pathLst>
                <a:path h="701205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01205"/>
                  </a:lnTo>
                  <a:lnTo>
                    <a:pt x="0" y="7012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495" r="0" b="-23299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10607040" cy="74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Ignore:  💰+2,🏭 +4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28655" y="7375655"/>
            <a:ext cx="7515306" cy="2585723"/>
            <a:chOff x="0" y="0"/>
            <a:chExt cx="10020408" cy="344763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2512952" y="7571232"/>
            <a:ext cx="6766560" cy="640080"/>
            <a:chOff x="0" y="0"/>
            <a:chExt cx="9022080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Forest Fire Prevention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512952" y="8000752"/>
            <a:ext cx="6766560" cy="512064"/>
            <a:chOff x="0" y="0"/>
            <a:chExt cx="902208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Authorities propose prevention program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60808" y="8593273"/>
            <a:ext cx="7955280" cy="417853"/>
            <a:chOff x="0" y="0"/>
            <a:chExt cx="10607040" cy="55713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Build fire prevention system:💰-3, 🏭 -4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60808" y="9011126"/>
            <a:ext cx="7955280" cy="417853"/>
            <a:chOff x="0" y="0"/>
            <a:chExt cx="10607040" cy="55713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LImited momitoring: 🏭 -2, 💰 -1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60808" y="9428979"/>
            <a:ext cx="7955280" cy="417862"/>
            <a:chOff x="0" y="0"/>
            <a:chExt cx="10607040" cy="55714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607040" cy="557149"/>
            </a:xfrm>
            <a:custGeom>
              <a:avLst/>
              <a:gdLst/>
              <a:ahLst/>
              <a:cxnLst/>
              <a:rect r="r" b="b" t="t" l="l"/>
              <a:pathLst>
                <a:path h="557149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49"/>
                  </a:lnTo>
                  <a:lnTo>
                    <a:pt x="0" y="5571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15" r="0" b="-31909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0607040" cy="604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Ignore  risk: 💰+2, 🏭 +3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792338" y="7375655"/>
            <a:ext cx="7196063" cy="2585723"/>
            <a:chOff x="0" y="0"/>
            <a:chExt cx="9594751" cy="344763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012432" y="7571232"/>
            <a:ext cx="1002030" cy="1002030"/>
            <a:chOff x="0" y="0"/>
            <a:chExt cx="1463040" cy="14630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🌏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176635" y="7571232"/>
            <a:ext cx="6766560" cy="640080"/>
            <a:chOff x="0" y="0"/>
            <a:chExt cx="902208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Carbon Capture Project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1176635" y="8000752"/>
            <a:ext cx="6766560" cy="512064"/>
            <a:chOff x="0" y="0"/>
            <a:chExt cx="9022080" cy="68275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90220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Scientists propose capturing CO2 from factories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024491" y="8550916"/>
            <a:ext cx="7955280" cy="417853"/>
            <a:chOff x="0" y="0"/>
            <a:chExt cx="10607040" cy="55713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Install carbon capture technology 🏭 -6, 💰-4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034016" y="8991352"/>
            <a:ext cx="7955280" cy="417853"/>
            <a:chOff x="0" y="0"/>
            <a:chExt cx="10607040" cy="55713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Limit Factory emissions: 🏭 -3, 💰 -1 Factory income -2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012432" y="9428979"/>
            <a:ext cx="7955280" cy="417862"/>
            <a:chOff x="0" y="0"/>
            <a:chExt cx="10607040" cy="55714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0607040" cy="557149"/>
            </a:xfrm>
            <a:custGeom>
              <a:avLst/>
              <a:gdLst/>
              <a:ahLst/>
              <a:cxnLst/>
              <a:rect r="r" b="b" t="t" l="l"/>
              <a:pathLst>
                <a:path h="557149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49"/>
                  </a:lnTo>
                  <a:lnTo>
                    <a:pt x="0" y="5571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15" r="0" b="-319099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10607040" cy="604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▸Ignore Emissions : 💰+3, 🏭 +5</a:t>
              </a:r>
            </a:p>
          </p:txBody>
        </p:sp>
      </p:grpSp>
      <p:sp>
        <p:nvSpPr>
          <p:cNvPr name="TextBox 131" id="131"/>
          <p:cNvSpPr txBox="true"/>
          <p:nvPr/>
        </p:nvSpPr>
        <p:spPr>
          <a:xfrm rot="0">
            <a:off x="-3336730" y="2126962"/>
            <a:ext cx="7603602" cy="84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3"/>
              </a:lnSpc>
              <a:spcBef>
                <a:spcPct val="0"/>
              </a:spcBef>
            </a:pPr>
            <a:r>
              <a:rPr lang="en-US" sz="49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</a:t>
            </a:r>
            <a:r>
              <a:rPr lang="en-US" sz="49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🌆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128655" y="4706626"/>
            <a:ext cx="1344064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1"/>
              </a:lnSpc>
              <a:spcBef>
                <a:spcPct val="0"/>
              </a:spcBef>
            </a:pPr>
            <a:r>
              <a:rPr lang="en-US" sz="66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66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🌳</a:t>
            </a:r>
          </a:p>
        </p:txBody>
      </p:sp>
      <p:grpSp>
        <p:nvGrpSpPr>
          <p:cNvPr name="Group 133" id="133"/>
          <p:cNvGrpSpPr/>
          <p:nvPr/>
        </p:nvGrpSpPr>
        <p:grpSpPr>
          <a:xfrm rot="0">
            <a:off x="10049918" y="4797071"/>
            <a:ext cx="964544" cy="964544"/>
            <a:chOff x="0" y="0"/>
            <a:chExt cx="1463040" cy="14630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🌊</a:t>
              </a:r>
            </a:p>
          </p:txBody>
        </p:sp>
      </p:grpSp>
      <p:sp>
        <p:nvSpPr>
          <p:cNvPr name="TextBox 136" id="136"/>
          <p:cNvSpPr txBox="true"/>
          <p:nvPr/>
        </p:nvSpPr>
        <p:spPr>
          <a:xfrm rot="0">
            <a:off x="821909" y="7673697"/>
            <a:ext cx="1909491" cy="75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4"/>
              </a:lnSpc>
              <a:spcBef>
                <a:spcPct val="0"/>
              </a:spcBef>
            </a:pPr>
            <a:r>
              <a:rPr lang="en-US" sz="436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🔥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sz="5700">
                  <a:solidFill>
                    <a:srgbClr val="2A9D8F"/>
                  </a:solidFill>
                  <a:latin typeface="Alice Bold"/>
                  <a:ea typeface="Alice Bold"/>
                  <a:cs typeface="Alice Bold"/>
                  <a:sym typeface="Alice Bold"/>
                </a:rPr>
                <a:t>🌿</a:t>
              </a:r>
              <a:r>
                <a:rPr lang="en-US" sz="5700" i="true">
                  <a:solidFill>
                    <a:srgbClr val="2A9D8F"/>
                  </a:solidFill>
                  <a:latin typeface="Alice Bold Italics"/>
                  <a:ea typeface="Alice Bold Italics"/>
                  <a:cs typeface="Alice Bold Italics"/>
                  <a:sym typeface="Alice Bold Italics"/>
                </a:rPr>
                <a:t>  ECOLOGICAL DILEMMAS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8655" y="2000631"/>
            <a:ext cx="7515306" cy="2585723"/>
            <a:chOff x="0" y="0"/>
            <a:chExt cx="10020408" cy="3447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12952" y="2011680"/>
            <a:ext cx="6766560" cy="640080"/>
            <a:chOff x="0" y="0"/>
            <a:chExt cx="902208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Traffic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49528" y="2442972"/>
            <a:ext cx="6766560" cy="512064"/>
            <a:chOff x="0" y="0"/>
            <a:chExt cx="902208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Traffic congestion is increasing.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8668" y="2787396"/>
            <a:ext cx="7955280" cy="724662"/>
            <a:chOff x="0" y="0"/>
            <a:chExt cx="10607040" cy="966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07040" cy="966216"/>
            </a:xfrm>
            <a:custGeom>
              <a:avLst/>
              <a:gdLst/>
              <a:ahLst/>
              <a:cxnLst/>
              <a:rect r="r" b="b" t="t" l="l"/>
              <a:pathLst>
                <a:path h="96621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66216"/>
                  </a:lnTo>
                  <a:lnTo>
                    <a:pt x="0" y="966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144" r="0" b="-1416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607040" cy="1013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88" indent="-226694" lvl="1">
                <a:lnSpc>
                  <a:spcPts val="2519"/>
                </a:lnSpc>
                <a:buFont typeface="Arial"/>
                <a:buChar char="•"/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▸Build Metro System💰-4, , Mobility +6,Mobility +6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4618" y="3402711"/>
            <a:ext cx="7955280" cy="417853"/>
            <a:chOff x="0" y="0"/>
            <a:chExt cx="10607040" cy="5571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Expand roads: Money -2 Mobility+3 🏭 -3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0808" y="3950208"/>
            <a:ext cx="7955280" cy="417853"/>
            <a:chOff x="0" y="0"/>
            <a:chExt cx="10607040" cy="5571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▸Promote Cyling Insfrastructure : 💰-1, 🏭 -5, Health +4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92338" y="1816103"/>
            <a:ext cx="7196063" cy="2585723"/>
            <a:chOff x="0" y="0"/>
            <a:chExt cx="9594751" cy="34476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176635" y="2011680"/>
            <a:ext cx="6766560" cy="640080"/>
            <a:chOff x="0" y="0"/>
            <a:chExt cx="902208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Mycelium Network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014462" y="2530983"/>
            <a:ext cx="6689561" cy="696829"/>
            <a:chOff x="0" y="0"/>
            <a:chExt cx="9022080" cy="939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22080" cy="939800"/>
            </a:xfrm>
            <a:custGeom>
              <a:avLst/>
              <a:gdLst/>
              <a:ahLst/>
              <a:cxnLst/>
              <a:rect r="r" b="b" t="t" l="l"/>
              <a:pathLst>
                <a:path h="9398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39800"/>
                  </a:lnTo>
                  <a:lnTo>
                    <a:pt x="0" y="939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732" r="0" b="-12338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022080" cy="97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Scientists discover a massive underground mycelium network.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24491" y="3012186"/>
            <a:ext cx="7955280" cy="417853"/>
            <a:chOff x="0" y="0"/>
            <a:chExt cx="10607040" cy="5571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Protect fungal ecosystem:🏭 -6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987915" y="3430039"/>
            <a:ext cx="7955280" cy="417853"/>
            <a:chOff x="0" y="0"/>
            <a:chExt cx="10607040" cy="55713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Community gardening workshops:🏭 -3, Education +4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03214" y="3885992"/>
            <a:ext cx="7955280" cy="1046503"/>
            <a:chOff x="0" y="0"/>
            <a:chExt cx="10607040" cy="139533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07040" cy="1395338"/>
            </a:xfrm>
            <a:custGeom>
              <a:avLst/>
              <a:gdLst/>
              <a:ahLst/>
              <a:cxnLst/>
              <a:rect r="r" b="b" t="t" l="l"/>
              <a:pathLst>
                <a:path h="13953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395338"/>
                  </a:lnTo>
                  <a:lnTo>
                    <a:pt x="0" y="13953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897" r="0" b="-6734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607040" cy="1442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▸Native plant distribution: 🏭 -5</a:t>
              </a:r>
            </a:p>
            <a:p>
              <a:pPr algn="l">
                <a:lnSpc>
                  <a:spcPts val="2519"/>
                </a:lnSpc>
              </a:pPr>
            </a:p>
            <a:p>
              <a:pPr algn="l">
                <a:lnSpc>
                  <a:spcPts val="251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28655" y="4595879"/>
            <a:ext cx="7515306" cy="2585723"/>
            <a:chOff x="0" y="0"/>
            <a:chExt cx="10020408" cy="34476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50778" y="4791456"/>
            <a:ext cx="1002030" cy="1002030"/>
            <a:chOff x="0" y="0"/>
            <a:chExt cx="146304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⛰️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512952" y="4791456"/>
            <a:ext cx="6766560" cy="640080"/>
            <a:chOff x="0" y="0"/>
            <a:chExt cx="902208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Green Spaces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429008" y="5268601"/>
            <a:ext cx="6766560" cy="512064"/>
            <a:chOff x="0" y="0"/>
            <a:chExt cx="902208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Citizens request more green spaces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30763" y="5733040"/>
            <a:ext cx="7955280" cy="417853"/>
            <a:chOff x="0" y="0"/>
            <a:chExt cx="10607040" cy="55713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Large tree planting campaign: 💰-3, 🏭 -5,public Happiness +3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0763" y="6183991"/>
            <a:ext cx="7955280" cy="417853"/>
            <a:chOff x="0" y="0"/>
            <a:chExt cx="10607040" cy="55713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Small park development:💰-1, 🏭 -2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40288" y="6601844"/>
            <a:ext cx="7955280" cy="417853"/>
            <a:chOff x="0" y="0"/>
            <a:chExt cx="10607040" cy="55713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Ignore request: :💰 +1. Public happiness −3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92338" y="4595879"/>
            <a:ext cx="7196063" cy="2585723"/>
            <a:chOff x="0" y="0"/>
            <a:chExt cx="9594751" cy="34476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003214" y="4791456"/>
            <a:ext cx="1002030" cy="1002030"/>
            <a:chOff x="0" y="0"/>
            <a:chExt cx="1463040" cy="14630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176635" y="4791456"/>
            <a:ext cx="6766560" cy="921283"/>
            <a:chOff x="0" y="0"/>
            <a:chExt cx="9022080" cy="122837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022080" cy="1228377"/>
            </a:xfrm>
            <a:custGeom>
              <a:avLst/>
              <a:gdLst/>
              <a:ahLst/>
              <a:cxnLst/>
              <a:rect r="r" b="b" t="t" l="l"/>
              <a:pathLst>
                <a:path h="1228377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28377"/>
                  </a:lnTo>
                  <a:lnTo>
                    <a:pt x="0" y="1228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373" r="0" b="-7785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9022080" cy="1247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Wildlife Conservation</a:t>
              </a:r>
            </a:p>
            <a:p>
              <a:pPr algn="l">
                <a:lnSpc>
                  <a:spcPts val="323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176635" y="5220976"/>
            <a:ext cx="6766560" cy="512064"/>
            <a:chOff x="0" y="0"/>
            <a:chExt cx="902208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Wildlife habitat threatened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024491" y="5780665"/>
            <a:ext cx="7955280" cy="732178"/>
            <a:chOff x="0" y="0"/>
            <a:chExt cx="10607040" cy="97623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607040" cy="976238"/>
            </a:xfrm>
            <a:custGeom>
              <a:avLst/>
              <a:gdLst/>
              <a:ahLst/>
              <a:cxnLst/>
              <a:rect r="r" b="b" t="t" l="l"/>
              <a:pathLst>
                <a:path h="9762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234" r="0" b="-13918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607040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▸Build Wildlife Sanctuary: 💰-−2, 🏭 -6 Tourism +2</a:t>
              </a:r>
            </a:p>
            <a:p>
              <a:pPr algn="l">
                <a:lnSpc>
                  <a:spcPts val="251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892665" y="6184011"/>
            <a:ext cx="7955280" cy="435894"/>
            <a:chOff x="0" y="0"/>
            <a:chExt cx="10607040" cy="5811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607040" cy="581191"/>
            </a:xfrm>
            <a:custGeom>
              <a:avLst/>
              <a:gdLst/>
              <a:ahLst/>
              <a:cxnLst/>
              <a:rect r="r" b="b" t="t" l="l"/>
              <a:pathLst>
                <a:path h="581191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81191"/>
                  </a:lnTo>
                  <a:lnTo>
                    <a:pt x="0" y="5811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9461" r="0" b="-30176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607040" cy="628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88" indent="-226694" lvl="1">
                <a:lnSpc>
                  <a:spcPts val="2519"/>
                </a:lnSpc>
                <a:buFont typeface="Arial"/>
                <a:buChar char="•"/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Ignore and build houses:</a:t>
              </a: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💰+3,🏭 +5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28655" y="7375655"/>
            <a:ext cx="7515306" cy="2585723"/>
            <a:chOff x="0" y="0"/>
            <a:chExt cx="10020408" cy="34476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2512952" y="7571232"/>
            <a:ext cx="6766560" cy="640080"/>
            <a:chOff x="0" y="0"/>
            <a:chExt cx="9022080" cy="853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Seeds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512952" y="8086477"/>
            <a:ext cx="6766560" cy="512064"/>
            <a:chOff x="0" y="0"/>
            <a:chExt cx="902208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Botanists organize a festival celebrating native plant seeds.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60808" y="8593264"/>
            <a:ext cx="7955280" cy="417853"/>
            <a:chOff x="0" y="0"/>
            <a:chExt cx="10607040" cy="55713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Rare seeds exchange:🏭 -4 Biodiversity +3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60808" y="9011126"/>
            <a:ext cx="7955280" cy="835715"/>
            <a:chOff x="0" y="0"/>
            <a:chExt cx="10607040" cy="111428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607040" cy="1114287"/>
            </a:xfrm>
            <a:custGeom>
              <a:avLst/>
              <a:gdLst/>
              <a:ahLst/>
              <a:cxnLst/>
              <a:rect r="r" b="b" t="t" l="l"/>
              <a:pathLst>
                <a:path h="1114287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114287"/>
                  </a:lnTo>
                  <a:lnTo>
                    <a:pt x="0" y="11142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409" r="0" b="-10955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10607040" cy="1161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▸Community gardening workshops 🏭 -6,  Public awareness +4</a:t>
              </a:r>
            </a:p>
            <a:p>
              <a:pPr algn="l">
                <a:lnSpc>
                  <a:spcPts val="2519"/>
                </a:lnSpc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60808" y="9428988"/>
            <a:ext cx="7955280" cy="417853"/>
            <a:chOff x="0" y="0"/>
            <a:chExt cx="10607040" cy="55713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88" indent="-226694" lvl="1">
                <a:lnSpc>
                  <a:spcPts val="2519"/>
                </a:lnSpc>
                <a:buFont typeface="Arial"/>
                <a:buChar char="•"/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Native plant distribution: 🏭 -5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792338" y="7375655"/>
            <a:ext cx="7196063" cy="2585723"/>
            <a:chOff x="0" y="0"/>
            <a:chExt cx="9594751" cy="344763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012432" y="7571232"/>
            <a:ext cx="1002030" cy="1002030"/>
            <a:chOff x="0" y="0"/>
            <a:chExt cx="1463040" cy="14630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🌏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176635" y="7571232"/>
            <a:ext cx="6766560" cy="921283"/>
            <a:chOff x="0" y="0"/>
            <a:chExt cx="9022080" cy="1228377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022080" cy="1228377"/>
            </a:xfrm>
            <a:custGeom>
              <a:avLst/>
              <a:gdLst/>
              <a:ahLst/>
              <a:cxnLst/>
              <a:rect r="r" b="b" t="t" l="l"/>
              <a:pathLst>
                <a:path h="1228377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28377"/>
                  </a:lnTo>
                  <a:lnTo>
                    <a:pt x="0" y="1228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373" r="0" b="-7785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9022080" cy="1247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Water Resource Decision</a:t>
              </a:r>
            </a:p>
            <a:p>
              <a:pPr algn="l">
                <a:lnSpc>
                  <a:spcPts val="3239"/>
                </a:lnSpc>
              </a:pP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176635" y="8000752"/>
            <a:ext cx="6766560" cy="665169"/>
            <a:chOff x="0" y="0"/>
            <a:chExt cx="9022080" cy="88689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022080" cy="886891"/>
            </a:xfrm>
            <a:custGeom>
              <a:avLst/>
              <a:gdLst/>
              <a:ahLst/>
              <a:cxnLst/>
              <a:rect r="r" b="b" t="t" l="l"/>
              <a:pathLst>
                <a:path h="886891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86891"/>
                  </a:lnTo>
                  <a:lnTo>
                    <a:pt x="0" y="8868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724" r="0" b="-13670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9022080" cy="924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Wa</a:t>
              </a:r>
              <a:r>
                <a:rPr lang="en-US" sz="18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ter shortage.</a:t>
              </a:r>
            </a:p>
            <a:p>
              <a:pPr algn="l">
                <a:lnSpc>
                  <a:spcPts val="2279"/>
                </a:lnSpc>
              </a:pP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024491" y="8419852"/>
            <a:ext cx="7955280" cy="732178"/>
            <a:chOff x="0" y="0"/>
            <a:chExt cx="10607040" cy="97623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607040" cy="976238"/>
            </a:xfrm>
            <a:custGeom>
              <a:avLst/>
              <a:gdLst/>
              <a:ahLst/>
              <a:cxnLst/>
              <a:rect r="r" b="b" t="t" l="l"/>
              <a:pathLst>
                <a:path h="9762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234" r="0" b="-13918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10607040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▸Build Dam:Resources +3,🏭 +3</a:t>
              </a:r>
            </a:p>
            <a:p>
              <a:pPr algn="l">
                <a:lnSpc>
                  <a:spcPts val="2519"/>
                </a:lnSpc>
              </a:pP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024491" y="8856421"/>
            <a:ext cx="7955280" cy="732178"/>
            <a:chOff x="0" y="0"/>
            <a:chExt cx="10607040" cy="97623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607040" cy="976238"/>
            </a:xfrm>
            <a:custGeom>
              <a:avLst/>
              <a:gdLst/>
              <a:ahLst/>
              <a:cxnLst/>
              <a:rect r="r" b="b" t="t" l="l"/>
              <a:pathLst>
                <a:path h="9762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234" r="0" b="-13918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10607040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Rainwater harvesting: 💰- −2, 🏭 -3</a:t>
              </a:r>
            </a:p>
            <a:p>
              <a:pPr algn="l">
                <a:lnSpc>
                  <a:spcPts val="2519"/>
                </a:lnSpc>
              </a:pPr>
            </a:p>
          </p:txBody>
        </p:sp>
      </p:grpSp>
      <p:sp>
        <p:nvSpPr>
          <p:cNvPr name="TextBox 122" id="122"/>
          <p:cNvSpPr txBox="true"/>
          <p:nvPr/>
        </p:nvSpPr>
        <p:spPr>
          <a:xfrm rot="0">
            <a:off x="254228" y="2034921"/>
            <a:ext cx="3195130" cy="1100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  <a:spcBef>
                <a:spcPct val="0"/>
              </a:spcBef>
            </a:pPr>
            <a:r>
              <a:rPr lang="en-US" sz="64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🚦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555387" y="7629277"/>
            <a:ext cx="59281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🌱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0207823" y="2173986"/>
            <a:ext cx="59281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🍄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sz="5700">
                  <a:solidFill>
                    <a:srgbClr val="2A9D8F"/>
                  </a:solidFill>
                  <a:latin typeface="Alice Bold"/>
                  <a:ea typeface="Alice Bold"/>
                  <a:cs typeface="Alice Bold"/>
                  <a:sym typeface="Alice Bold"/>
                </a:rPr>
                <a:t>🌿</a:t>
              </a:r>
              <a:r>
                <a:rPr lang="en-US" sz="5700" i="true">
                  <a:solidFill>
                    <a:srgbClr val="2A9D8F"/>
                  </a:solidFill>
                  <a:latin typeface="Alice Bold Italics"/>
                  <a:ea typeface="Alice Bold Italics"/>
                  <a:cs typeface="Alice Bold Italics"/>
                  <a:sym typeface="Alice Bold Italics"/>
                </a:rPr>
                <a:t>  ECOLOGICAL DILEMMAS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8655" y="1816103"/>
            <a:ext cx="7515306" cy="2585723"/>
            <a:chOff x="0" y="0"/>
            <a:chExt cx="10020408" cy="3447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50778" y="2011680"/>
            <a:ext cx="1038606" cy="1038606"/>
            <a:chOff x="0" y="0"/>
            <a:chExt cx="146304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🌲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12952" y="2011680"/>
            <a:ext cx="6766560" cy="640080"/>
            <a:chOff x="0" y="0"/>
            <a:chExt cx="902208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Organic Farming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49528" y="2442972"/>
            <a:ext cx="6766560" cy="512064"/>
            <a:chOff x="0" y="0"/>
            <a:chExt cx="902208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Farmers propose switching to organic farming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4618" y="2984858"/>
            <a:ext cx="7955280" cy="417853"/>
            <a:chOff x="0" y="0"/>
            <a:chExt cx="10607040" cy="5571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▸Subsidize organic farming: 💰-3 🏭 −6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0808" y="3402711"/>
            <a:ext cx="7955280" cy="515389"/>
            <a:chOff x="0" y="0"/>
            <a:chExt cx="10607040" cy="6871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07040" cy="687186"/>
            </a:xfrm>
            <a:custGeom>
              <a:avLst/>
              <a:gdLst/>
              <a:ahLst/>
              <a:cxnLst/>
              <a:rect r="r" b="b" t="t" l="l"/>
              <a:pathLst>
                <a:path h="68718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7186"/>
                  </a:lnTo>
                  <a:lnTo>
                    <a:pt x="0" y="6871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28" r="0" b="-23979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607040" cy="7348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Protect: 🏭 -4, 💰+3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60808" y="3950208"/>
            <a:ext cx="7955280" cy="417853"/>
            <a:chOff x="0" y="0"/>
            <a:chExt cx="10607040" cy="5571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Eco Tourism: 💰+2, 🏭 +4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792338" y="1816103"/>
            <a:ext cx="7196063" cy="2585723"/>
            <a:chOff x="0" y="0"/>
            <a:chExt cx="9594751" cy="34476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12432" y="2011680"/>
            <a:ext cx="964544" cy="964544"/>
            <a:chOff x="0" y="0"/>
            <a:chExt cx="146304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🌊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76635" y="2011680"/>
            <a:ext cx="6766560" cy="640080"/>
            <a:chOff x="0" y="0"/>
            <a:chExt cx="902208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Cl</a:t>
              </a: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imate Refugee Settlement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100801" y="2442972"/>
            <a:ext cx="6766560" cy="512064"/>
            <a:chOff x="0" y="0"/>
            <a:chExt cx="902208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</a:t>
              </a: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ople displaced by climate disasters.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24491" y="3012186"/>
            <a:ext cx="7955280" cy="417853"/>
            <a:chOff x="0" y="0"/>
            <a:chExt cx="10607040" cy="55713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Build eco housing: 🏭 -2, 💰-3, b 😊+3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24491" y="3433572"/>
            <a:ext cx="7955280" cy="417853"/>
            <a:chOff x="0" y="0"/>
            <a:chExt cx="10607040" cy="5571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Temporary shelters:💰-1,😊+1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24491" y="3893058"/>
            <a:ext cx="7955280" cy="417853"/>
            <a:chOff x="0" y="0"/>
            <a:chExt cx="10607040" cy="55713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Reject settlement:💰+2,😊-3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28655" y="4595879"/>
            <a:ext cx="7515306" cy="2585723"/>
            <a:chOff x="0" y="0"/>
            <a:chExt cx="10020408" cy="34476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50778" y="4791456"/>
            <a:ext cx="1002030" cy="1002030"/>
            <a:chOff x="0" y="0"/>
            <a:chExt cx="1463040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⛰️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512952" y="4791456"/>
            <a:ext cx="6766560" cy="640080"/>
            <a:chOff x="0" y="0"/>
            <a:chExt cx="902208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Maintain Forests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419483" y="5268601"/>
            <a:ext cx="6766560" cy="512064"/>
            <a:chOff x="0" y="0"/>
            <a:chExt cx="902208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Loc</a:t>
              </a: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 communities volunteer to maintain forests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60808" y="5780665"/>
            <a:ext cx="7955280" cy="417853"/>
            <a:chOff x="0" y="0"/>
            <a:chExt cx="10607040" cy="55713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Training programs: 🏭 -3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60808" y="6202051"/>
            <a:ext cx="7955280" cy="417853"/>
            <a:chOff x="0" y="0"/>
            <a:chExt cx="10607040" cy="55713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Tree guardians : 🏭 -4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60808" y="6630419"/>
            <a:ext cx="7955280" cy="417853"/>
            <a:chOff x="0" y="0"/>
            <a:chExt cx="10607040" cy="55713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Youth forest camps : 🏭 -3, awareness bonus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792338" y="4595879"/>
            <a:ext cx="7196063" cy="2585723"/>
            <a:chOff x="0" y="0"/>
            <a:chExt cx="9594751" cy="34476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003214" y="4791456"/>
            <a:ext cx="1002030" cy="1002030"/>
            <a:chOff x="0" y="0"/>
            <a:chExt cx="1463040" cy="14630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176635" y="4791456"/>
            <a:ext cx="6766560" cy="640080"/>
            <a:chOff x="0" y="0"/>
            <a:chExt cx="902208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Riv</a:t>
              </a: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er Fish Collapse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176635" y="5220976"/>
            <a:ext cx="6766560" cy="512064"/>
            <a:chOff x="0" y="0"/>
            <a:chExt cx="902208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Fish populatio</a:t>
              </a: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 in the river is declining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012432" y="5780591"/>
            <a:ext cx="7955280" cy="417928"/>
            <a:chOff x="0" y="0"/>
            <a:chExt cx="10607040" cy="55723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607040" cy="557237"/>
            </a:xfrm>
            <a:custGeom>
              <a:avLst/>
              <a:gdLst/>
              <a:ahLst/>
              <a:cxnLst/>
              <a:rect r="r" b="b" t="t" l="l"/>
              <a:pathLst>
                <a:path h="557237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237"/>
                  </a:lnTo>
                  <a:lnTo>
                    <a:pt x="0" y="5572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764" r="0" b="-31903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0607040" cy="604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Ban fishing temporarily: 🏭 -5, 💰-2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012432" y="6202051"/>
            <a:ext cx="7955280" cy="417853"/>
            <a:chOff x="0" y="0"/>
            <a:chExt cx="10607040" cy="55713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Limit fishing: 🏭 -2, 💰+1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012432" y="6630419"/>
            <a:ext cx="7955280" cy="417853"/>
            <a:chOff x="0" y="0"/>
            <a:chExt cx="10607040" cy="55713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Continue fishing: 🏭 +4, 💰+3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28655" y="7375655"/>
            <a:ext cx="7515306" cy="2585723"/>
            <a:chOff x="0" y="0"/>
            <a:chExt cx="10020408" cy="344763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5209" y="16891"/>
              <a:ext cx="998991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989910">
                  <a:moveTo>
                    <a:pt x="0" y="0"/>
                  </a:moveTo>
                  <a:lnTo>
                    <a:pt x="9989910" y="0"/>
                  </a:lnTo>
                  <a:lnTo>
                    <a:pt x="998991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020327" cy="3447542"/>
            </a:xfrm>
            <a:custGeom>
              <a:avLst/>
              <a:gdLst/>
              <a:ahLst/>
              <a:cxnLst/>
              <a:rect r="r" b="b" t="t" l="l"/>
              <a:pathLst>
                <a:path h="3447542" w="10020327">
                  <a:moveTo>
                    <a:pt x="15209" y="0"/>
                  </a:moveTo>
                  <a:lnTo>
                    <a:pt x="10005119" y="0"/>
                  </a:lnTo>
                  <a:cubicBezTo>
                    <a:pt x="10013581" y="0"/>
                    <a:pt x="10020327" y="7620"/>
                    <a:pt x="10020327" y="16891"/>
                  </a:cubicBezTo>
                  <a:lnTo>
                    <a:pt x="10020327" y="3430651"/>
                  </a:lnTo>
                  <a:cubicBezTo>
                    <a:pt x="10020327" y="3440049"/>
                    <a:pt x="10013466" y="3447542"/>
                    <a:pt x="10005119" y="3447542"/>
                  </a:cubicBezTo>
                  <a:lnTo>
                    <a:pt x="15209" y="3447542"/>
                  </a:lnTo>
                  <a:cubicBezTo>
                    <a:pt x="6747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861" y="0"/>
                    <a:pt x="15209" y="0"/>
                  </a:cubicBezTo>
                  <a:moveTo>
                    <a:pt x="15209" y="33909"/>
                  </a:moveTo>
                  <a:lnTo>
                    <a:pt x="15209" y="16891"/>
                  </a:lnTo>
                  <a:lnTo>
                    <a:pt x="30532" y="16891"/>
                  </a:lnTo>
                  <a:lnTo>
                    <a:pt x="30532" y="3430651"/>
                  </a:lnTo>
                  <a:lnTo>
                    <a:pt x="15209" y="3430651"/>
                  </a:lnTo>
                  <a:lnTo>
                    <a:pt x="15209" y="3413760"/>
                  </a:lnTo>
                  <a:lnTo>
                    <a:pt x="10005119" y="3413760"/>
                  </a:lnTo>
                  <a:lnTo>
                    <a:pt x="10005119" y="3430651"/>
                  </a:lnTo>
                  <a:lnTo>
                    <a:pt x="9989910" y="3430651"/>
                  </a:lnTo>
                  <a:lnTo>
                    <a:pt x="9989910" y="16891"/>
                  </a:lnTo>
                  <a:lnTo>
                    <a:pt x="10005119" y="16891"/>
                  </a:lnTo>
                  <a:lnTo>
                    <a:pt x="10005119" y="33909"/>
                  </a:lnTo>
                  <a:lnTo>
                    <a:pt x="15209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64618" y="7571232"/>
            <a:ext cx="998220" cy="998220"/>
            <a:chOff x="0" y="0"/>
            <a:chExt cx="1463040" cy="14630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🐢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512952" y="7571232"/>
            <a:ext cx="6766560" cy="640080"/>
            <a:chOff x="0" y="0"/>
            <a:chExt cx="902208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 Rare Plankton discovered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512952" y="8000752"/>
            <a:ext cx="6766560" cy="512064"/>
            <a:chOff x="0" y="0"/>
            <a:chExt cx="9022080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It ca</a:t>
              </a: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uses the shoreline to glow blue at night.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60808" y="8593264"/>
            <a:ext cx="7955280" cy="417853"/>
            <a:chOff x="0" y="0"/>
            <a:chExt cx="10607040" cy="55713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Protect the shoreline habitat:  🏭 -5, Biodiversity +2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60808" y="9011126"/>
            <a:ext cx="7955280" cy="417853"/>
            <a:chOff x="0" y="0"/>
            <a:chExt cx="10607040" cy="55713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607040" cy="557138"/>
            </a:xfrm>
            <a:custGeom>
              <a:avLst/>
              <a:gdLst/>
              <a:ahLst/>
              <a:cxnLst/>
              <a:rect r="r" b="b" t="t" l="l"/>
              <a:pathLst>
                <a:path h="55713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821" r="0" b="-31910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0607040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Create night observation areas: 🏭 -3, 😊+3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792338" y="7375655"/>
            <a:ext cx="7196063" cy="2585723"/>
            <a:chOff x="0" y="0"/>
            <a:chExt cx="9594751" cy="34476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4563" y="16891"/>
              <a:ext cx="95655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65548">
                  <a:moveTo>
                    <a:pt x="0" y="0"/>
                  </a:moveTo>
                  <a:lnTo>
                    <a:pt x="9565548" y="0"/>
                  </a:lnTo>
                  <a:lnTo>
                    <a:pt x="95655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594674" cy="3447542"/>
            </a:xfrm>
            <a:custGeom>
              <a:avLst/>
              <a:gdLst/>
              <a:ahLst/>
              <a:cxnLst/>
              <a:rect r="r" b="b" t="t" l="l"/>
              <a:pathLst>
                <a:path h="3447542" w="9594674">
                  <a:moveTo>
                    <a:pt x="14563" y="0"/>
                  </a:moveTo>
                  <a:lnTo>
                    <a:pt x="9580111" y="0"/>
                  </a:lnTo>
                  <a:cubicBezTo>
                    <a:pt x="9588214" y="0"/>
                    <a:pt x="9594674" y="7620"/>
                    <a:pt x="9594674" y="16891"/>
                  </a:cubicBezTo>
                  <a:lnTo>
                    <a:pt x="9594674" y="3430651"/>
                  </a:lnTo>
                  <a:cubicBezTo>
                    <a:pt x="9594674" y="3440049"/>
                    <a:pt x="9588105" y="3447542"/>
                    <a:pt x="9580111" y="3447542"/>
                  </a:cubicBezTo>
                  <a:lnTo>
                    <a:pt x="14563" y="3447542"/>
                  </a:lnTo>
                  <a:cubicBezTo>
                    <a:pt x="6460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6570" y="0"/>
                    <a:pt x="14563" y="0"/>
                  </a:cubicBezTo>
                  <a:moveTo>
                    <a:pt x="14563" y="33909"/>
                  </a:moveTo>
                  <a:lnTo>
                    <a:pt x="14563" y="16891"/>
                  </a:lnTo>
                  <a:lnTo>
                    <a:pt x="29235" y="16891"/>
                  </a:lnTo>
                  <a:lnTo>
                    <a:pt x="29235" y="3430651"/>
                  </a:lnTo>
                  <a:lnTo>
                    <a:pt x="14563" y="3430651"/>
                  </a:lnTo>
                  <a:lnTo>
                    <a:pt x="14563" y="3413760"/>
                  </a:lnTo>
                  <a:lnTo>
                    <a:pt x="9580111" y="3413760"/>
                  </a:lnTo>
                  <a:lnTo>
                    <a:pt x="9580111" y="3430651"/>
                  </a:lnTo>
                  <a:lnTo>
                    <a:pt x="9565548" y="3430651"/>
                  </a:lnTo>
                  <a:lnTo>
                    <a:pt x="9565548" y="16891"/>
                  </a:lnTo>
                  <a:lnTo>
                    <a:pt x="9580111" y="16891"/>
                  </a:lnTo>
                  <a:lnTo>
                    <a:pt x="9580111" y="33909"/>
                  </a:lnTo>
                  <a:lnTo>
                    <a:pt x="14563" y="33909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0012432" y="7571232"/>
            <a:ext cx="1002030" cy="1002030"/>
            <a:chOff x="0" y="0"/>
            <a:chExt cx="1463040" cy="14630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85725"/>
              <a:ext cx="146304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🌏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1176635" y="7571232"/>
            <a:ext cx="6766560" cy="640080"/>
            <a:chOff x="0" y="0"/>
            <a:chExt cx="9022080" cy="8534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9022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Desert Expansion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138287" y="8000752"/>
            <a:ext cx="6766560" cy="512064"/>
            <a:chOff x="0" y="0"/>
            <a:chExt cx="9022080" cy="68275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4AA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nearby land becomes desert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024491" y="8497062"/>
            <a:ext cx="7955280" cy="471708"/>
            <a:chOff x="0" y="0"/>
            <a:chExt cx="10607040" cy="62894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607040" cy="628943"/>
            </a:xfrm>
            <a:custGeom>
              <a:avLst/>
              <a:gdLst/>
              <a:ahLst/>
              <a:cxnLst/>
              <a:rect r="r" b="b" t="t" l="l"/>
              <a:pathLst>
                <a:path h="628943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28943"/>
                  </a:lnTo>
                  <a:lnTo>
                    <a:pt x="0" y="628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965" r="0" b="-271259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10607040" cy="676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7EC8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Plant drought-resistant plants: 🏭 -5, 💰−3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024491" y="8991352"/>
            <a:ext cx="7955280" cy="421386"/>
            <a:chOff x="0" y="0"/>
            <a:chExt cx="10607040" cy="56184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0607040" cy="561848"/>
            </a:xfrm>
            <a:custGeom>
              <a:avLst/>
              <a:gdLst/>
              <a:ahLst/>
              <a:cxnLst/>
              <a:rect r="r" b="b" t="t" l="l"/>
              <a:pathLst>
                <a:path h="56184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61848"/>
                  </a:lnTo>
                  <a:lnTo>
                    <a:pt x="0" y="5618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115" r="0" b="-31559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10607040" cy="60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Use land for solar energy: 🏭 -3, 💰+2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024491" y="9412738"/>
            <a:ext cx="7955280" cy="417928"/>
            <a:chOff x="0" y="0"/>
            <a:chExt cx="10607040" cy="55723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607040" cy="557237"/>
            </a:xfrm>
            <a:custGeom>
              <a:avLst/>
              <a:gdLst/>
              <a:ahLst/>
              <a:cxnLst/>
              <a:rect r="r" b="b" t="t" l="l"/>
              <a:pathLst>
                <a:path h="557237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7237"/>
                  </a:lnTo>
                  <a:lnTo>
                    <a:pt x="0" y="5572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764" r="0" b="-319033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10607040" cy="604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7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▸Ignore desertification:  🏭 +2, 💰+1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69923"/>
            <a:chOff x="0" y="0"/>
            <a:chExt cx="24417871" cy="22265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5212"/>
              <a:ext cx="24383999" cy="2196059"/>
            </a:xfrm>
            <a:custGeom>
              <a:avLst/>
              <a:gdLst/>
              <a:ahLst/>
              <a:cxnLst/>
              <a:rect r="r" b="b" t="t" l="l"/>
              <a:pathLst>
                <a:path h="219605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6060"/>
                  </a:lnTo>
                  <a:lnTo>
                    <a:pt x="0" y="2196060"/>
                  </a:lnTo>
                  <a:close/>
                </a:path>
              </a:pathLst>
            </a:custGeom>
            <a:solidFill>
              <a:srgbClr val="160A2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6484"/>
            </a:xfrm>
            <a:custGeom>
              <a:avLst/>
              <a:gdLst/>
              <a:ahLst/>
              <a:cxnLst/>
              <a:rect r="r" b="b" t="t" l="l"/>
              <a:pathLst>
                <a:path h="22264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6863"/>
                    <a:pt x="24417782" y="15212"/>
                  </a:cubicBezTo>
                  <a:lnTo>
                    <a:pt x="24417782" y="2211272"/>
                  </a:lnTo>
                  <a:cubicBezTo>
                    <a:pt x="24417782" y="2219736"/>
                    <a:pt x="24410163" y="2226484"/>
                    <a:pt x="24400890" y="2226484"/>
                  </a:cubicBezTo>
                  <a:lnTo>
                    <a:pt x="16891" y="2226484"/>
                  </a:lnTo>
                  <a:cubicBezTo>
                    <a:pt x="7493" y="2226484"/>
                    <a:pt x="0" y="2219621"/>
                    <a:pt x="0" y="2211272"/>
                  </a:cubicBezTo>
                  <a:lnTo>
                    <a:pt x="0" y="15212"/>
                  </a:lnTo>
                  <a:cubicBezTo>
                    <a:pt x="0" y="6863"/>
                    <a:pt x="7620" y="0"/>
                    <a:pt x="16891" y="0"/>
                  </a:cubicBezTo>
                  <a:moveTo>
                    <a:pt x="16891" y="30539"/>
                  </a:moveTo>
                  <a:lnTo>
                    <a:pt x="16891" y="15212"/>
                  </a:lnTo>
                  <a:lnTo>
                    <a:pt x="33909" y="15212"/>
                  </a:lnTo>
                  <a:lnTo>
                    <a:pt x="33909" y="2211272"/>
                  </a:lnTo>
                  <a:lnTo>
                    <a:pt x="16891" y="2211272"/>
                  </a:lnTo>
                  <a:lnTo>
                    <a:pt x="16891" y="2196059"/>
                  </a:lnTo>
                  <a:lnTo>
                    <a:pt x="24400890" y="2196059"/>
                  </a:lnTo>
                  <a:lnTo>
                    <a:pt x="24400890" y="2211272"/>
                  </a:lnTo>
                  <a:lnTo>
                    <a:pt x="24384000" y="2211272"/>
                  </a:lnTo>
                  <a:lnTo>
                    <a:pt x="24384000" y="15212"/>
                  </a:lnTo>
                  <a:lnTo>
                    <a:pt x="24400890" y="15212"/>
                  </a:lnTo>
                  <a:lnTo>
                    <a:pt x="24400890" y="30539"/>
                  </a:lnTo>
                  <a:lnTo>
                    <a:pt x="16891" y="30539"/>
                  </a:lnTo>
                  <a:close/>
                </a:path>
              </a:pathLst>
            </a:custGeom>
            <a:solidFill>
              <a:srgbClr val="160A2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614678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39BD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39BD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371600"/>
            <a:chOff x="0" y="0"/>
            <a:chExt cx="243840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🌱Ecological Chain Reaction Events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1150" y="1998983"/>
            <a:ext cx="4231643" cy="3892553"/>
            <a:chOff x="0" y="0"/>
            <a:chExt cx="5642191" cy="5190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7852"/>
              <a:ext cx="5608320" cy="5154273"/>
            </a:xfrm>
            <a:custGeom>
              <a:avLst/>
              <a:gdLst/>
              <a:ahLst/>
              <a:cxnLst/>
              <a:rect r="r" b="b" t="t" l="l"/>
              <a:pathLst>
                <a:path h="5154273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154273"/>
                  </a:lnTo>
                  <a:lnTo>
                    <a:pt x="0" y="5154273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2102" cy="5189977"/>
            </a:xfrm>
            <a:custGeom>
              <a:avLst/>
              <a:gdLst/>
              <a:ahLst/>
              <a:cxnLst/>
              <a:rect r="r" b="b" t="t" l="l"/>
              <a:pathLst>
                <a:path h="5189977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8054"/>
                    <a:pt x="5642102" y="17852"/>
                  </a:cubicBezTo>
                  <a:lnTo>
                    <a:pt x="5642102" y="5172125"/>
                  </a:lnTo>
                  <a:cubicBezTo>
                    <a:pt x="5642102" y="5182058"/>
                    <a:pt x="5634482" y="5189977"/>
                    <a:pt x="5625211" y="5189977"/>
                  </a:cubicBezTo>
                  <a:lnTo>
                    <a:pt x="16891" y="5189977"/>
                  </a:lnTo>
                  <a:cubicBezTo>
                    <a:pt x="7493" y="5189977"/>
                    <a:pt x="0" y="5181923"/>
                    <a:pt x="0" y="5172125"/>
                  </a:cubicBezTo>
                  <a:lnTo>
                    <a:pt x="0" y="17852"/>
                  </a:lnTo>
                  <a:cubicBezTo>
                    <a:pt x="0" y="8054"/>
                    <a:pt x="7620" y="0"/>
                    <a:pt x="16891" y="0"/>
                  </a:cubicBezTo>
                  <a:moveTo>
                    <a:pt x="16891" y="35838"/>
                  </a:moveTo>
                  <a:lnTo>
                    <a:pt x="16891" y="17852"/>
                  </a:lnTo>
                  <a:lnTo>
                    <a:pt x="33909" y="17852"/>
                  </a:lnTo>
                  <a:lnTo>
                    <a:pt x="33909" y="5172125"/>
                  </a:lnTo>
                  <a:lnTo>
                    <a:pt x="16891" y="5172125"/>
                  </a:lnTo>
                  <a:lnTo>
                    <a:pt x="16891" y="5154273"/>
                  </a:lnTo>
                  <a:lnTo>
                    <a:pt x="5625211" y="5154273"/>
                  </a:lnTo>
                  <a:lnTo>
                    <a:pt x="5625211" y="5172125"/>
                  </a:lnTo>
                  <a:lnTo>
                    <a:pt x="5608320" y="5172125"/>
                  </a:lnTo>
                  <a:lnTo>
                    <a:pt x="5608320" y="17852"/>
                  </a:lnTo>
                  <a:lnTo>
                    <a:pt x="5625211" y="17852"/>
                  </a:lnTo>
                  <a:lnTo>
                    <a:pt x="5625211" y="35838"/>
                  </a:lnTo>
                  <a:lnTo>
                    <a:pt x="16891" y="35838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81150" y="1998983"/>
            <a:ext cx="4231643" cy="939803"/>
            <a:chOff x="0" y="0"/>
            <a:chExt cx="5642191" cy="1253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40151" y="3028939"/>
            <a:ext cx="3913632" cy="1574973"/>
            <a:chOff x="0" y="0"/>
            <a:chExt cx="5218176" cy="20999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18176" cy="2099964"/>
            </a:xfrm>
            <a:custGeom>
              <a:avLst/>
              <a:gdLst/>
              <a:ahLst/>
              <a:cxnLst/>
              <a:rect r="r" b="b" t="t" l="l"/>
              <a:pathLst>
                <a:path h="2099964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2099964"/>
                  </a:lnTo>
                  <a:lnTo>
                    <a:pt x="0" y="20999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80" r="0" b="138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218176" cy="2147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99"/>
                </a:lnSpc>
              </a:pPr>
              <a:r>
                <a:rPr lang="en-US" sz="19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19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</a:t>
              </a:r>
              <a:r>
                <a:rPr lang="en-US" sz="19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ird population increases.</a:t>
              </a:r>
            </a:p>
            <a:p>
              <a:pPr algn="just">
                <a:lnSpc>
                  <a:spcPts val="2399"/>
                </a:lnSpc>
              </a:pPr>
              <a:r>
                <a:rPr lang="en-US" sz="19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Birds eat crop pests</a:t>
              </a:r>
            </a:p>
            <a:p>
              <a:pPr algn="just">
                <a:lnSpc>
                  <a:spcPts val="2399"/>
                </a:lnSpc>
              </a:pPr>
              <a:r>
                <a:rPr lang="en-US" sz="19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Farmers use fewer pesticides</a:t>
              </a:r>
            </a:p>
            <a:p>
              <a:pPr algn="just">
                <a:lnSpc>
                  <a:spcPts val="2399"/>
                </a:lnSpc>
              </a:pPr>
              <a:r>
                <a:rPr lang="en-US" sz="19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Crops grow better</a:t>
              </a:r>
            </a:p>
            <a:p>
              <a:pPr algn="just">
                <a:lnSpc>
                  <a:spcPts val="23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66999" y="4454352"/>
            <a:ext cx="3986784" cy="984423"/>
            <a:chOff x="0" y="0"/>
            <a:chExt cx="5315712" cy="13125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15712" cy="1312564"/>
            </a:xfrm>
            <a:custGeom>
              <a:avLst/>
              <a:gdLst/>
              <a:ahLst/>
              <a:cxnLst/>
              <a:rect r="r" b="b" t="t" l="l"/>
              <a:pathLst>
                <a:path h="131256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312564"/>
                  </a:lnTo>
                  <a:lnTo>
                    <a:pt x="0" y="13125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401" r="0" b="-1142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315712" cy="1360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</a:t>
              </a: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Game ef</a:t>
              </a: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fect:Protect bird habitat</a:t>
              </a:r>
            </a:p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💰 −1,🌿+3</a:t>
              </a:r>
            </a:p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Next round:Agriculture +2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49445" y="1998983"/>
            <a:ext cx="4231643" cy="3645661"/>
            <a:chOff x="0" y="0"/>
            <a:chExt cx="5642191" cy="486088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720"/>
              <a:ext cx="5608320" cy="4827354"/>
            </a:xfrm>
            <a:custGeom>
              <a:avLst/>
              <a:gdLst/>
              <a:ahLst/>
              <a:cxnLst/>
              <a:rect r="r" b="b" t="t" l="l"/>
              <a:pathLst>
                <a:path h="4827354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827354"/>
                  </a:lnTo>
                  <a:lnTo>
                    <a:pt x="0" y="4827354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42102" cy="4860794"/>
            </a:xfrm>
            <a:custGeom>
              <a:avLst/>
              <a:gdLst/>
              <a:ahLst/>
              <a:cxnLst/>
              <a:rect r="r" b="b" t="t" l="l"/>
              <a:pathLst>
                <a:path h="486079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543"/>
                    <a:pt x="5642102" y="16720"/>
                  </a:cubicBezTo>
                  <a:lnTo>
                    <a:pt x="5642102" y="4844074"/>
                  </a:lnTo>
                  <a:cubicBezTo>
                    <a:pt x="5642102" y="4853377"/>
                    <a:pt x="5634482" y="4860794"/>
                    <a:pt x="5625211" y="4860794"/>
                  </a:cubicBezTo>
                  <a:lnTo>
                    <a:pt x="16891" y="4860794"/>
                  </a:lnTo>
                  <a:cubicBezTo>
                    <a:pt x="7493" y="4860794"/>
                    <a:pt x="0" y="4853251"/>
                    <a:pt x="0" y="4844074"/>
                  </a:cubicBezTo>
                  <a:lnTo>
                    <a:pt x="0" y="16720"/>
                  </a:lnTo>
                  <a:cubicBezTo>
                    <a:pt x="0" y="7543"/>
                    <a:pt x="7620" y="0"/>
                    <a:pt x="16891" y="0"/>
                  </a:cubicBezTo>
                  <a:moveTo>
                    <a:pt x="16891" y="33565"/>
                  </a:moveTo>
                  <a:lnTo>
                    <a:pt x="16891" y="16720"/>
                  </a:lnTo>
                  <a:lnTo>
                    <a:pt x="33909" y="16720"/>
                  </a:lnTo>
                  <a:lnTo>
                    <a:pt x="33909" y="4844074"/>
                  </a:lnTo>
                  <a:lnTo>
                    <a:pt x="16891" y="4844074"/>
                  </a:lnTo>
                  <a:lnTo>
                    <a:pt x="16891" y="4827354"/>
                  </a:lnTo>
                  <a:lnTo>
                    <a:pt x="5625211" y="4827354"/>
                  </a:lnTo>
                  <a:lnTo>
                    <a:pt x="5625211" y="4844074"/>
                  </a:lnTo>
                  <a:lnTo>
                    <a:pt x="5608320" y="4844074"/>
                  </a:lnTo>
                  <a:lnTo>
                    <a:pt x="5608320" y="16720"/>
                  </a:lnTo>
                  <a:lnTo>
                    <a:pt x="5625211" y="16720"/>
                  </a:lnTo>
                  <a:lnTo>
                    <a:pt x="5625211" y="33565"/>
                  </a:lnTo>
                  <a:lnTo>
                    <a:pt x="16891" y="33565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49445" y="1998983"/>
            <a:ext cx="4231643" cy="939803"/>
            <a:chOff x="0" y="0"/>
            <a:chExt cx="5642191" cy="12530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071870" y="2032006"/>
            <a:ext cx="3913632" cy="731520"/>
            <a:chOff x="0" y="0"/>
            <a:chExt cx="5218176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18176" cy="975360"/>
            </a:xfrm>
            <a:custGeom>
              <a:avLst/>
              <a:gdLst/>
              <a:ahLst/>
              <a:cxnLst/>
              <a:rect r="r" b="b" t="t" l="l"/>
              <a:pathLst>
                <a:path h="9753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218176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Predator Protection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08446" y="3028939"/>
            <a:ext cx="3913632" cy="1808168"/>
            <a:chOff x="0" y="0"/>
            <a:chExt cx="5218176" cy="24108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18176" cy="2410891"/>
            </a:xfrm>
            <a:custGeom>
              <a:avLst/>
              <a:gdLst/>
              <a:ahLst/>
              <a:cxnLst/>
              <a:rect r="r" b="b" t="t" l="l"/>
              <a:pathLst>
                <a:path h="2410891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2410891"/>
                  </a:lnTo>
                  <a:lnTo>
                    <a:pt x="0" y="24108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2" r="0" b="2495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218176" cy="2448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Wolves or big predators are protected.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Predator population increases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Herbivore animals decrease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Forest vegetation grows healthier</a:t>
              </a:r>
            </a:p>
            <a:p>
              <a:pPr algn="l">
                <a:lnSpc>
                  <a:spcPts val="22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071870" y="4551357"/>
            <a:ext cx="3986784" cy="1279698"/>
            <a:chOff x="0" y="0"/>
            <a:chExt cx="5315712" cy="17062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15712" cy="1706264"/>
            </a:xfrm>
            <a:custGeom>
              <a:avLst/>
              <a:gdLst/>
              <a:ahLst/>
              <a:cxnLst/>
              <a:rect r="r" b="b" t="t" l="l"/>
              <a:pathLst>
                <a:path h="170626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706264"/>
                  </a:lnTo>
                  <a:lnTo>
                    <a:pt x="0" y="1706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94" r="0" b="142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315712" cy="1753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</a:t>
              </a: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Game effect:</a:t>
              </a: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Protect predators</a:t>
              </a:r>
            </a:p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 💰  −2,🌿 +5</a:t>
              </a:r>
            </a:p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Next round:Forest health +2</a:t>
              </a:r>
            </a:p>
            <a:p>
              <a:pPr algn="l">
                <a:lnSpc>
                  <a:spcPts val="239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288526" y="1998983"/>
            <a:ext cx="4231643" cy="3645661"/>
            <a:chOff x="0" y="0"/>
            <a:chExt cx="5642191" cy="486088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720"/>
              <a:ext cx="5608320" cy="4827354"/>
            </a:xfrm>
            <a:custGeom>
              <a:avLst/>
              <a:gdLst/>
              <a:ahLst/>
              <a:cxnLst/>
              <a:rect r="r" b="b" t="t" l="l"/>
              <a:pathLst>
                <a:path h="4827354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827354"/>
                  </a:lnTo>
                  <a:lnTo>
                    <a:pt x="0" y="4827354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42102" cy="4860794"/>
            </a:xfrm>
            <a:custGeom>
              <a:avLst/>
              <a:gdLst/>
              <a:ahLst/>
              <a:cxnLst/>
              <a:rect r="r" b="b" t="t" l="l"/>
              <a:pathLst>
                <a:path h="486079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543"/>
                    <a:pt x="5642102" y="16720"/>
                  </a:cubicBezTo>
                  <a:lnTo>
                    <a:pt x="5642102" y="4844074"/>
                  </a:lnTo>
                  <a:cubicBezTo>
                    <a:pt x="5642102" y="4853377"/>
                    <a:pt x="5634482" y="4860794"/>
                    <a:pt x="5625211" y="4860794"/>
                  </a:cubicBezTo>
                  <a:lnTo>
                    <a:pt x="16891" y="4860794"/>
                  </a:lnTo>
                  <a:cubicBezTo>
                    <a:pt x="7493" y="4860794"/>
                    <a:pt x="0" y="4853251"/>
                    <a:pt x="0" y="4844074"/>
                  </a:cubicBezTo>
                  <a:lnTo>
                    <a:pt x="0" y="16720"/>
                  </a:lnTo>
                  <a:cubicBezTo>
                    <a:pt x="0" y="7543"/>
                    <a:pt x="7620" y="0"/>
                    <a:pt x="16891" y="0"/>
                  </a:cubicBezTo>
                  <a:moveTo>
                    <a:pt x="16891" y="33565"/>
                  </a:moveTo>
                  <a:lnTo>
                    <a:pt x="16891" y="16720"/>
                  </a:lnTo>
                  <a:lnTo>
                    <a:pt x="33909" y="16720"/>
                  </a:lnTo>
                  <a:lnTo>
                    <a:pt x="33909" y="4844074"/>
                  </a:lnTo>
                  <a:lnTo>
                    <a:pt x="16891" y="4844074"/>
                  </a:lnTo>
                  <a:lnTo>
                    <a:pt x="16891" y="4827354"/>
                  </a:lnTo>
                  <a:lnTo>
                    <a:pt x="5625211" y="4827354"/>
                  </a:lnTo>
                  <a:lnTo>
                    <a:pt x="5625211" y="4844074"/>
                  </a:lnTo>
                  <a:lnTo>
                    <a:pt x="5608320" y="4844074"/>
                  </a:lnTo>
                  <a:lnTo>
                    <a:pt x="5608320" y="16720"/>
                  </a:lnTo>
                  <a:lnTo>
                    <a:pt x="5625211" y="16720"/>
                  </a:lnTo>
                  <a:lnTo>
                    <a:pt x="5625211" y="33565"/>
                  </a:lnTo>
                  <a:lnTo>
                    <a:pt x="16891" y="33565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288526" y="1998983"/>
            <a:ext cx="4231643" cy="939803"/>
            <a:chOff x="0" y="0"/>
            <a:chExt cx="5642191" cy="12530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411085" y="2043250"/>
            <a:ext cx="3913632" cy="814685"/>
            <a:chOff x="0" y="0"/>
            <a:chExt cx="5218176" cy="108624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18176" cy="1086247"/>
            </a:xfrm>
            <a:custGeom>
              <a:avLst/>
              <a:gdLst/>
              <a:ahLst/>
              <a:cxnLst/>
              <a:rect r="r" b="b" t="t" l="l"/>
              <a:pathLst>
                <a:path h="1086247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1086247"/>
                  </a:lnTo>
                  <a:lnTo>
                    <a:pt x="0" y="10862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707" r="0" b="-3849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5218176" cy="1095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Excess Fertilizer Damage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10951" y="3028939"/>
            <a:ext cx="3913632" cy="1522418"/>
            <a:chOff x="0" y="0"/>
            <a:chExt cx="5218176" cy="20298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18176" cy="2029891"/>
            </a:xfrm>
            <a:custGeom>
              <a:avLst/>
              <a:gdLst/>
              <a:ahLst/>
              <a:cxnLst/>
              <a:rect r="r" b="b" t="t" l="l"/>
              <a:pathLst>
                <a:path h="2029891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2029891"/>
                  </a:lnTo>
                  <a:lnTo>
                    <a:pt x="0" y="20298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9" r="0" b="1086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218176" cy="2067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Excess fertilizers damage soil.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Soil fertility decreases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Crop yields drop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Desertification begins</a:t>
              </a:r>
            </a:p>
            <a:p>
              <a:pPr algn="l">
                <a:lnSpc>
                  <a:spcPts val="22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74375" y="4454352"/>
            <a:ext cx="3986784" cy="1279698"/>
            <a:chOff x="0" y="0"/>
            <a:chExt cx="5315712" cy="17062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15712" cy="1706264"/>
            </a:xfrm>
            <a:custGeom>
              <a:avLst/>
              <a:gdLst/>
              <a:ahLst/>
              <a:cxnLst/>
              <a:rect r="r" b="b" t="t" l="l"/>
              <a:pathLst>
                <a:path h="170626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706264"/>
                  </a:lnTo>
                  <a:lnTo>
                    <a:pt x="0" y="1706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94" r="0" b="1428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315712" cy="1753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</a:t>
              </a: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Game</a:t>
              </a: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effect: Intensive farming</a:t>
              </a:r>
            </a:p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+3 Resources,🌿−4 </a:t>
              </a:r>
            </a:p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Next round:Agriculture −2</a:t>
              </a:r>
            </a:p>
            <a:p>
              <a:pPr algn="l">
                <a:lnSpc>
                  <a:spcPts val="239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019802" y="6177286"/>
            <a:ext cx="4231643" cy="4012192"/>
            <a:chOff x="0" y="0"/>
            <a:chExt cx="5642191" cy="53495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8401"/>
              <a:ext cx="5608320" cy="5312691"/>
            </a:xfrm>
            <a:custGeom>
              <a:avLst/>
              <a:gdLst/>
              <a:ahLst/>
              <a:cxnLst/>
              <a:rect r="r" b="b" t="t" l="l"/>
              <a:pathLst>
                <a:path h="5312691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312691"/>
                  </a:lnTo>
                  <a:lnTo>
                    <a:pt x="0" y="5312691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42102" cy="5349493"/>
            </a:xfrm>
            <a:custGeom>
              <a:avLst/>
              <a:gdLst/>
              <a:ahLst/>
              <a:cxnLst/>
              <a:rect r="r" b="b" t="t" l="l"/>
              <a:pathLst>
                <a:path h="5349493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8301"/>
                    <a:pt x="5642102" y="18401"/>
                  </a:cubicBezTo>
                  <a:lnTo>
                    <a:pt x="5642102" y="5331092"/>
                  </a:lnTo>
                  <a:cubicBezTo>
                    <a:pt x="5642102" y="5341330"/>
                    <a:pt x="5634482" y="5349493"/>
                    <a:pt x="5625211" y="5349493"/>
                  </a:cubicBezTo>
                  <a:lnTo>
                    <a:pt x="16891" y="5349493"/>
                  </a:lnTo>
                  <a:cubicBezTo>
                    <a:pt x="7493" y="5349493"/>
                    <a:pt x="0" y="5341192"/>
                    <a:pt x="0" y="5331092"/>
                  </a:cubicBezTo>
                  <a:lnTo>
                    <a:pt x="0" y="18401"/>
                  </a:lnTo>
                  <a:cubicBezTo>
                    <a:pt x="0" y="8301"/>
                    <a:pt x="7620" y="0"/>
                    <a:pt x="16891" y="0"/>
                  </a:cubicBezTo>
                  <a:moveTo>
                    <a:pt x="16891" y="36940"/>
                  </a:moveTo>
                  <a:lnTo>
                    <a:pt x="16891" y="18401"/>
                  </a:lnTo>
                  <a:lnTo>
                    <a:pt x="33909" y="18401"/>
                  </a:lnTo>
                  <a:lnTo>
                    <a:pt x="33909" y="5331092"/>
                  </a:lnTo>
                  <a:lnTo>
                    <a:pt x="16891" y="5331092"/>
                  </a:lnTo>
                  <a:lnTo>
                    <a:pt x="16891" y="5312692"/>
                  </a:lnTo>
                  <a:lnTo>
                    <a:pt x="5625211" y="5312692"/>
                  </a:lnTo>
                  <a:lnTo>
                    <a:pt x="5625211" y="5331092"/>
                  </a:lnTo>
                  <a:lnTo>
                    <a:pt x="5608320" y="5331092"/>
                  </a:lnTo>
                  <a:lnTo>
                    <a:pt x="5608320" y="18401"/>
                  </a:lnTo>
                  <a:lnTo>
                    <a:pt x="5625211" y="18401"/>
                  </a:lnTo>
                  <a:lnTo>
                    <a:pt x="5625211" y="36940"/>
                  </a:lnTo>
                  <a:lnTo>
                    <a:pt x="16891" y="36940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019802" y="6177286"/>
            <a:ext cx="4231643" cy="939803"/>
            <a:chOff x="0" y="0"/>
            <a:chExt cx="5642191" cy="12530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178803" y="6210310"/>
            <a:ext cx="3913632" cy="814685"/>
            <a:chOff x="0" y="0"/>
            <a:chExt cx="5218176" cy="108624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18176" cy="1086247"/>
            </a:xfrm>
            <a:custGeom>
              <a:avLst/>
              <a:gdLst/>
              <a:ahLst/>
              <a:cxnLst/>
              <a:rect r="r" b="b" t="t" l="l"/>
              <a:pathLst>
                <a:path h="1086247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1086247"/>
                  </a:lnTo>
                  <a:lnTo>
                    <a:pt x="0" y="10862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707" r="0" b="-3849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5218176" cy="1095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Forest Destruction Chain Reaction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215379" y="7279015"/>
            <a:ext cx="3913632" cy="1808168"/>
            <a:chOff x="0" y="0"/>
            <a:chExt cx="5218176" cy="24108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218176" cy="2410891"/>
            </a:xfrm>
            <a:custGeom>
              <a:avLst/>
              <a:gdLst/>
              <a:ahLst/>
              <a:cxnLst/>
              <a:rect r="r" b="b" t="t" l="l"/>
              <a:pathLst>
                <a:path h="2410891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2410891"/>
                  </a:lnTo>
                  <a:lnTo>
                    <a:pt x="0" y="24108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2" r="0" b="2495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218176" cy="2448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</a:t>
              </a: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llinators help plants reproduce.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If pesticides increase: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Bees die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Crops produce less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Flower plants disappear</a:t>
              </a:r>
            </a:p>
            <a:p>
              <a:pPr algn="l">
                <a:lnSpc>
                  <a:spcPts val="22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142227" y="8875875"/>
            <a:ext cx="3986784" cy="1279698"/>
            <a:chOff x="0" y="0"/>
            <a:chExt cx="5315712" cy="17062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15712" cy="1706264"/>
            </a:xfrm>
            <a:custGeom>
              <a:avLst/>
              <a:gdLst/>
              <a:ahLst/>
              <a:cxnLst/>
              <a:rect r="r" b="b" t="t" l="l"/>
              <a:pathLst>
                <a:path h="170626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706264"/>
                  </a:lnTo>
                  <a:lnTo>
                    <a:pt x="0" y="1706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94" r="0" b="1428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5315712" cy="1753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</a:t>
              </a: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Game eff</a:t>
              </a: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ect: Heavy pesticide farming</a:t>
              </a:r>
            </a:p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💰 +2 , 🌿−4</a:t>
              </a:r>
            </a:p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Next round:agriculture output  −3</a:t>
              </a:r>
            </a:p>
            <a:p>
              <a:pPr algn="l">
                <a:lnSpc>
                  <a:spcPts val="239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79032" y="5882011"/>
            <a:ext cx="4231643" cy="4225936"/>
            <a:chOff x="0" y="0"/>
            <a:chExt cx="5642191" cy="56345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9381"/>
              <a:ext cx="5608320" cy="5595717"/>
            </a:xfrm>
            <a:custGeom>
              <a:avLst/>
              <a:gdLst/>
              <a:ahLst/>
              <a:cxnLst/>
              <a:rect r="r" b="b" t="t" l="l"/>
              <a:pathLst>
                <a:path h="5595717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595717"/>
                  </a:lnTo>
                  <a:lnTo>
                    <a:pt x="0" y="5595717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642102" cy="5634480"/>
            </a:xfrm>
            <a:custGeom>
              <a:avLst/>
              <a:gdLst/>
              <a:ahLst/>
              <a:cxnLst/>
              <a:rect r="r" b="b" t="t" l="l"/>
              <a:pathLst>
                <a:path h="5634480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8743"/>
                    <a:pt x="5642102" y="19381"/>
                  </a:cubicBezTo>
                  <a:lnTo>
                    <a:pt x="5642102" y="5615098"/>
                  </a:lnTo>
                  <a:cubicBezTo>
                    <a:pt x="5642102" y="5625882"/>
                    <a:pt x="5634482" y="5634480"/>
                    <a:pt x="5625211" y="5634480"/>
                  </a:cubicBezTo>
                  <a:lnTo>
                    <a:pt x="16891" y="5634480"/>
                  </a:lnTo>
                  <a:cubicBezTo>
                    <a:pt x="7493" y="5634480"/>
                    <a:pt x="0" y="5625736"/>
                    <a:pt x="0" y="5615098"/>
                  </a:cubicBezTo>
                  <a:lnTo>
                    <a:pt x="0" y="19381"/>
                  </a:lnTo>
                  <a:cubicBezTo>
                    <a:pt x="0" y="8743"/>
                    <a:pt x="7620" y="0"/>
                    <a:pt x="16891" y="0"/>
                  </a:cubicBezTo>
                  <a:moveTo>
                    <a:pt x="16891" y="38908"/>
                  </a:moveTo>
                  <a:lnTo>
                    <a:pt x="16891" y="19381"/>
                  </a:lnTo>
                  <a:lnTo>
                    <a:pt x="33909" y="19381"/>
                  </a:lnTo>
                  <a:lnTo>
                    <a:pt x="33909" y="5615098"/>
                  </a:lnTo>
                  <a:lnTo>
                    <a:pt x="16891" y="5615098"/>
                  </a:lnTo>
                  <a:lnTo>
                    <a:pt x="16891" y="5595718"/>
                  </a:lnTo>
                  <a:lnTo>
                    <a:pt x="5625211" y="5595718"/>
                  </a:lnTo>
                  <a:lnTo>
                    <a:pt x="5625211" y="5615098"/>
                  </a:lnTo>
                  <a:lnTo>
                    <a:pt x="5608320" y="5615098"/>
                  </a:lnTo>
                  <a:lnTo>
                    <a:pt x="5608320" y="19381"/>
                  </a:lnTo>
                  <a:lnTo>
                    <a:pt x="5625211" y="19381"/>
                  </a:lnTo>
                  <a:lnTo>
                    <a:pt x="5625211" y="38908"/>
                  </a:lnTo>
                  <a:lnTo>
                    <a:pt x="16891" y="38908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479032" y="5882011"/>
            <a:ext cx="4231643" cy="939803"/>
            <a:chOff x="0" y="0"/>
            <a:chExt cx="5642191" cy="125307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559300" y="6059300"/>
            <a:ext cx="3913632" cy="731520"/>
            <a:chOff x="0" y="0"/>
            <a:chExt cx="5218176" cy="975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18176" cy="975360"/>
            </a:xfrm>
            <a:custGeom>
              <a:avLst/>
              <a:gdLst/>
              <a:ahLst/>
              <a:cxnLst/>
              <a:rect r="r" b="b" t="t" l="l"/>
              <a:pathLst>
                <a:path h="9753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5218176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Bee Population Decline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64881" y="6718465"/>
            <a:ext cx="3913632" cy="2489038"/>
            <a:chOff x="0" y="0"/>
            <a:chExt cx="5218176" cy="33187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18176" cy="3318718"/>
            </a:xfrm>
            <a:custGeom>
              <a:avLst/>
              <a:gdLst/>
              <a:ahLst/>
              <a:cxnLst/>
              <a:rect r="r" b="b" t="t" l="l"/>
              <a:pathLst>
                <a:path h="3318718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3318718"/>
                  </a:lnTo>
                  <a:lnTo>
                    <a:pt x="0" y="33187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58" r="0" b="4548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218176" cy="33568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Nature systems are connected.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Example: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If a player destroys forest →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river health decreases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fish population decreases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➡ food production decreases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So one bad action causes multiple consequences.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564881" y="9170721"/>
            <a:ext cx="3823964" cy="984852"/>
            <a:chOff x="0" y="0"/>
            <a:chExt cx="5315712" cy="136904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15712" cy="1369047"/>
            </a:xfrm>
            <a:custGeom>
              <a:avLst/>
              <a:gdLst/>
              <a:ahLst/>
              <a:cxnLst/>
              <a:rect r="r" b="b" t="t" l="l"/>
              <a:pathLst>
                <a:path h="1369047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369047"/>
                  </a:lnTo>
                  <a:lnTo>
                    <a:pt x="0" y="13690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487" r="0" b="-682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315712" cy="1416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</a:t>
              </a: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Cut f</a:t>
              </a: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orest:🌿−6</a:t>
              </a:r>
            </a:p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Next round: agriculture output -2</a:t>
              </a:r>
            </a:p>
            <a:p>
              <a:pPr algn="l">
                <a:lnSpc>
                  <a:spcPts val="239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703575" y="2084832"/>
            <a:ext cx="3913632" cy="731520"/>
            <a:chOff x="0" y="0"/>
            <a:chExt cx="5218176" cy="9753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218176" cy="975360"/>
            </a:xfrm>
            <a:custGeom>
              <a:avLst/>
              <a:gdLst/>
              <a:ahLst/>
              <a:cxnLst/>
              <a:rect r="r" b="b" t="t" l="l"/>
              <a:pathLst>
                <a:path h="9753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5218176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Bird Population Growth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60A2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0A2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4295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39BD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39BD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371600"/>
            <a:chOff x="0" y="0"/>
            <a:chExt cx="243840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🦋  RARE WORLD WONDERS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3063" y="1998983"/>
            <a:ext cx="4231643" cy="3683003"/>
            <a:chOff x="0" y="0"/>
            <a:chExt cx="5642191" cy="4910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6083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21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4893691"/>
                  </a:lnTo>
                  <a:cubicBezTo>
                    <a:pt x="5642102" y="4903089"/>
                    <a:pt x="5634482" y="4910582"/>
                    <a:pt x="56252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625211" y="4876800"/>
                  </a:lnTo>
                  <a:lnTo>
                    <a:pt x="5625211" y="4893691"/>
                  </a:lnTo>
                  <a:lnTo>
                    <a:pt x="5608320" y="48936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53063" y="1998983"/>
            <a:ext cx="4231643" cy="939803"/>
            <a:chOff x="0" y="0"/>
            <a:chExt cx="5642191" cy="1253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65760" y="2084832"/>
            <a:ext cx="4206240" cy="914400"/>
            <a:chOff x="0" y="0"/>
            <a:chExt cx="560832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5608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🦋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" y="3017520"/>
            <a:ext cx="3913632" cy="731520"/>
            <a:chOff x="0" y="0"/>
            <a:chExt cx="5218176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8176" cy="975360"/>
            </a:xfrm>
            <a:custGeom>
              <a:avLst/>
              <a:gdLst/>
              <a:ahLst/>
              <a:cxnLst/>
              <a:rect r="r" b="b" t="t" l="l"/>
              <a:pathLst>
                <a:path h="9753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218176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Butterfly Storm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2064" y="3749040"/>
            <a:ext cx="3913632" cy="1188720"/>
            <a:chOff x="0" y="0"/>
            <a:chExt cx="5218176" cy="1584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18176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50" r="0" b="-141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218176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Millions of butterflies fill the sky in a breathtaking display.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5488" y="4937760"/>
            <a:ext cx="3986784" cy="689148"/>
            <a:chOff x="0" y="0"/>
            <a:chExt cx="5315712" cy="9188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15712" cy="918864"/>
            </a:xfrm>
            <a:custGeom>
              <a:avLst/>
              <a:gdLst/>
              <a:ahLst/>
              <a:cxnLst/>
              <a:rect r="r" b="b" t="t" l="l"/>
              <a:pathLst>
                <a:path h="91886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18864"/>
                  </a:lnTo>
                  <a:lnTo>
                    <a:pt x="0" y="918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282" r="0" b="-591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315712" cy="9664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Forest Decision + Seeds + Green Spaces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33623" y="1998983"/>
            <a:ext cx="4231643" cy="3683003"/>
            <a:chOff x="0" y="0"/>
            <a:chExt cx="5642191" cy="49106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6083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421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4893691"/>
                  </a:lnTo>
                  <a:cubicBezTo>
                    <a:pt x="5642102" y="4903089"/>
                    <a:pt x="5634482" y="4910582"/>
                    <a:pt x="56252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625211" y="4876800"/>
                  </a:lnTo>
                  <a:lnTo>
                    <a:pt x="5625211" y="4893691"/>
                  </a:lnTo>
                  <a:lnTo>
                    <a:pt x="5608320" y="48936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833623" y="1998983"/>
            <a:ext cx="4231643" cy="939803"/>
            <a:chOff x="0" y="0"/>
            <a:chExt cx="5642191" cy="12530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846320" y="2084832"/>
            <a:ext cx="4206240" cy="914400"/>
            <a:chOff x="0" y="0"/>
            <a:chExt cx="560832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5608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🐦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92624" y="3017520"/>
            <a:ext cx="3913632" cy="731520"/>
            <a:chOff x="0" y="0"/>
            <a:chExt cx="5218176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18176" cy="975360"/>
            </a:xfrm>
            <a:custGeom>
              <a:avLst/>
              <a:gdLst/>
              <a:ahLst/>
              <a:cxnLst/>
              <a:rect r="r" b="b" t="t" l="l"/>
              <a:pathLst>
                <a:path h="9753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5218176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Symphony of Birds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992624" y="3749040"/>
            <a:ext cx="3913632" cy="1188720"/>
            <a:chOff x="0" y="0"/>
            <a:chExt cx="5218176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18176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50" r="0" b="-141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218176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Hundreds of species begin nesting in a chorus of life.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56048" y="4937760"/>
            <a:ext cx="3986784" cy="640080"/>
            <a:chOff x="0" y="0"/>
            <a:chExt cx="5315712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15712" cy="853440"/>
            </a:xfrm>
            <a:custGeom>
              <a:avLst/>
              <a:gdLst/>
              <a:ahLst/>
              <a:cxnLst/>
              <a:rect r="r" b="b" t="t" l="l"/>
              <a:pathLst>
                <a:path h="85344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63" r="0" b="-7136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31571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Old Trees + Wildlife Conservation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14183" y="1998983"/>
            <a:ext cx="4231643" cy="3683003"/>
            <a:chOff x="0" y="0"/>
            <a:chExt cx="5642191" cy="49106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56083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6421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4893691"/>
                  </a:lnTo>
                  <a:cubicBezTo>
                    <a:pt x="5642102" y="4903089"/>
                    <a:pt x="5634482" y="4910582"/>
                    <a:pt x="56252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625211" y="4876800"/>
                  </a:lnTo>
                  <a:lnTo>
                    <a:pt x="5625211" y="4893691"/>
                  </a:lnTo>
                  <a:lnTo>
                    <a:pt x="5608320" y="48936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14183" y="1998983"/>
            <a:ext cx="4231643" cy="939803"/>
            <a:chOff x="0" y="0"/>
            <a:chExt cx="5642191" cy="12530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326880" y="2084832"/>
            <a:ext cx="4206240" cy="914400"/>
            <a:chOff x="0" y="0"/>
            <a:chExt cx="560832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5608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🌳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73184" y="3017520"/>
            <a:ext cx="3913632" cy="731520"/>
            <a:chOff x="0" y="0"/>
            <a:chExt cx="5218176" cy="97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18176" cy="975360"/>
            </a:xfrm>
            <a:custGeom>
              <a:avLst/>
              <a:gdLst/>
              <a:ahLst/>
              <a:cxnLst/>
              <a:rect r="r" b="b" t="t" l="l"/>
              <a:pathLst>
                <a:path h="9753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5218176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Great Forest Awakening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473184" y="3749040"/>
            <a:ext cx="3913632" cy="1188720"/>
            <a:chOff x="0" y="0"/>
            <a:chExt cx="5218176" cy="1584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18176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50" r="0" b="-141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5218176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ecosystem becomes fully interconnected.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36608" y="4937760"/>
            <a:ext cx="3986784" cy="689148"/>
            <a:chOff x="0" y="0"/>
            <a:chExt cx="5315712" cy="9188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15712" cy="918864"/>
            </a:xfrm>
            <a:custGeom>
              <a:avLst/>
              <a:gdLst/>
              <a:ahLst/>
              <a:cxnLst/>
              <a:rect r="r" b="b" t="t" l="l"/>
              <a:pathLst>
                <a:path h="91886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18864"/>
                  </a:lnTo>
                  <a:lnTo>
                    <a:pt x="0" y="918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282" r="0" b="-5916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315712" cy="9664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Maintaining Forests + Forest Decisions + Forest Fire Prevention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794743" y="1998983"/>
            <a:ext cx="4231643" cy="3683003"/>
            <a:chOff x="0" y="0"/>
            <a:chExt cx="5642191" cy="491067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56083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6421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4893691"/>
                  </a:lnTo>
                  <a:cubicBezTo>
                    <a:pt x="5642102" y="4903089"/>
                    <a:pt x="5634482" y="4910582"/>
                    <a:pt x="56252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625211" y="4876800"/>
                  </a:lnTo>
                  <a:lnTo>
                    <a:pt x="5625211" y="4893691"/>
                  </a:lnTo>
                  <a:lnTo>
                    <a:pt x="5608320" y="48936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794743" y="1998983"/>
            <a:ext cx="4231643" cy="939803"/>
            <a:chOff x="0" y="0"/>
            <a:chExt cx="5642191" cy="12530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807440" y="2084832"/>
            <a:ext cx="4206240" cy="914400"/>
            <a:chOff x="0" y="0"/>
            <a:chExt cx="560832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76200"/>
              <a:ext cx="5608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🌸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953744" y="3017520"/>
            <a:ext cx="3913632" cy="814685"/>
            <a:chOff x="0" y="0"/>
            <a:chExt cx="5218176" cy="108624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18176" cy="1086247"/>
            </a:xfrm>
            <a:custGeom>
              <a:avLst/>
              <a:gdLst/>
              <a:ahLst/>
              <a:cxnLst/>
              <a:rect r="r" b="b" t="t" l="l"/>
              <a:pathLst>
                <a:path h="1086247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1086247"/>
                  </a:lnTo>
                  <a:lnTo>
                    <a:pt x="0" y="10862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707" r="0" b="-3849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5218176" cy="1095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Golden Pollination Season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953744" y="3749040"/>
            <a:ext cx="3913632" cy="1188720"/>
            <a:chOff x="0" y="0"/>
            <a:chExt cx="5218176" cy="15849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18176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50" r="0" b="-1415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218176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record pollination season transforms the entire region.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917168" y="4937760"/>
            <a:ext cx="3986784" cy="640080"/>
            <a:chOff x="0" y="0"/>
            <a:chExt cx="5315712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15712" cy="853440"/>
            </a:xfrm>
            <a:custGeom>
              <a:avLst/>
              <a:gdLst/>
              <a:ahLst/>
              <a:cxnLst/>
              <a:rect r="r" b="b" t="t" l="l"/>
              <a:pathLst>
                <a:path h="85344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63" r="0" b="-7136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31571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Seeds + Organic Farming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547623" y="5839463"/>
            <a:ext cx="4231643" cy="3683003"/>
            <a:chOff x="0" y="0"/>
            <a:chExt cx="5642191" cy="491067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6083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6421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4893691"/>
                  </a:lnTo>
                  <a:cubicBezTo>
                    <a:pt x="5642102" y="4903089"/>
                    <a:pt x="5634482" y="4910582"/>
                    <a:pt x="56252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625211" y="4876800"/>
                  </a:lnTo>
                  <a:lnTo>
                    <a:pt x="5625211" y="4893691"/>
                  </a:lnTo>
                  <a:lnTo>
                    <a:pt x="5608320" y="48936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2547623" y="5839463"/>
            <a:ext cx="4231643" cy="939803"/>
            <a:chOff x="0" y="0"/>
            <a:chExt cx="5642191" cy="12530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2560320" y="5925312"/>
            <a:ext cx="4206240" cy="914400"/>
            <a:chOff x="0" y="0"/>
            <a:chExt cx="5608320" cy="1219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76200"/>
              <a:ext cx="5608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✨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706624" y="6858000"/>
            <a:ext cx="3913632" cy="731520"/>
            <a:chOff x="0" y="0"/>
            <a:chExt cx="5218176" cy="9753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18176" cy="975360"/>
            </a:xfrm>
            <a:custGeom>
              <a:avLst/>
              <a:gdLst/>
              <a:ahLst/>
              <a:cxnLst/>
              <a:rect r="r" b="b" t="t" l="l"/>
              <a:pathLst>
                <a:path h="9753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5218176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Firefly Night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2706624" y="7589520"/>
            <a:ext cx="3913632" cy="1188720"/>
            <a:chOff x="0" y="0"/>
            <a:chExt cx="5218176" cy="15849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18176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50" r="0" b="-1415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5218176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Millions of fireflies emerge and light up the city at night.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670048" y="8778240"/>
            <a:ext cx="3986784" cy="689148"/>
            <a:chOff x="0" y="0"/>
            <a:chExt cx="5315712" cy="91886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315712" cy="918864"/>
            </a:xfrm>
            <a:custGeom>
              <a:avLst/>
              <a:gdLst/>
              <a:ahLst/>
              <a:cxnLst/>
              <a:rect r="r" b="b" t="t" l="l"/>
              <a:pathLst>
                <a:path h="91886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18864"/>
                  </a:lnTo>
                  <a:lnTo>
                    <a:pt x="0" y="918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282" r="0" b="-5916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5315712" cy="9664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Carbone Capture Project + Climate summit + population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028183" y="5839463"/>
            <a:ext cx="4231643" cy="3683003"/>
            <a:chOff x="0" y="0"/>
            <a:chExt cx="5642191" cy="491067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56083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6421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4893691"/>
                  </a:lnTo>
                  <a:cubicBezTo>
                    <a:pt x="5642102" y="4903089"/>
                    <a:pt x="5634482" y="4910582"/>
                    <a:pt x="56252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625211" y="4876800"/>
                  </a:lnTo>
                  <a:lnTo>
                    <a:pt x="5625211" y="4893691"/>
                  </a:lnTo>
                  <a:lnTo>
                    <a:pt x="5608320" y="48936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028183" y="5839463"/>
            <a:ext cx="4231643" cy="939803"/>
            <a:chOff x="0" y="0"/>
            <a:chExt cx="5642191" cy="125307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7040880" y="5925312"/>
            <a:ext cx="4206240" cy="914400"/>
            <a:chOff x="0" y="0"/>
            <a:chExt cx="5608320" cy="12192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76200"/>
              <a:ext cx="5608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🏆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187184" y="6858000"/>
            <a:ext cx="3913632" cy="731520"/>
            <a:chOff x="0" y="0"/>
            <a:chExt cx="5218176" cy="9753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218176" cy="975360"/>
            </a:xfrm>
            <a:custGeom>
              <a:avLst/>
              <a:gdLst/>
              <a:ahLst/>
              <a:cxnLst/>
              <a:rect r="r" b="b" t="t" l="l"/>
              <a:pathLst>
                <a:path h="9753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5218176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Biodiversity Jackpot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187184" y="7589520"/>
            <a:ext cx="3913632" cy="1188720"/>
            <a:chOff x="0" y="0"/>
            <a:chExt cx="5218176" cy="15849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218176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50" r="0" b="-1415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5218176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-20 Pollution Points instantly — but lose one habitat and the jackpot vanishes.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150608" y="8797290"/>
            <a:ext cx="3986784" cy="689148"/>
            <a:chOff x="0" y="0"/>
            <a:chExt cx="5315712" cy="91886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315712" cy="918864"/>
            </a:xfrm>
            <a:custGeom>
              <a:avLst/>
              <a:gdLst/>
              <a:ahLst/>
              <a:cxnLst/>
              <a:rect r="r" b="b" t="t" l="l"/>
              <a:pathLst>
                <a:path h="91886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18864"/>
                  </a:lnTo>
                  <a:lnTo>
                    <a:pt x="0" y="918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282" r="0" b="-5916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5315712" cy="9664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Rare Minerals + Sea turtle Beach +Mycelium network + Maintain Forest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1508743" y="5839463"/>
            <a:ext cx="4231643" cy="3683003"/>
            <a:chOff x="0" y="0"/>
            <a:chExt cx="5642191" cy="491067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56083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A0D2E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6421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4893691"/>
                  </a:lnTo>
                  <a:cubicBezTo>
                    <a:pt x="5642102" y="4903089"/>
                    <a:pt x="5634482" y="4910582"/>
                    <a:pt x="56252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625211" y="4876800"/>
                  </a:lnTo>
                  <a:lnTo>
                    <a:pt x="5625211" y="4893691"/>
                  </a:lnTo>
                  <a:lnTo>
                    <a:pt x="5608320" y="48936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D8A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1508743" y="5839463"/>
            <a:ext cx="4231643" cy="939803"/>
            <a:chOff x="0" y="0"/>
            <a:chExt cx="5642191" cy="125307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657">
                <a:alpha val="63922"/>
              </a:srgbClr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6421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36091"/>
                  </a:lnTo>
                  <a:cubicBezTo>
                    <a:pt x="5642102" y="1245489"/>
                    <a:pt x="5634482" y="1252982"/>
                    <a:pt x="56252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625211" y="1219200"/>
                  </a:lnTo>
                  <a:lnTo>
                    <a:pt x="5625211" y="1236091"/>
                  </a:lnTo>
                  <a:lnTo>
                    <a:pt x="5608320" y="12360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57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1521440" y="5925312"/>
            <a:ext cx="4206240" cy="914400"/>
            <a:chOff x="0" y="0"/>
            <a:chExt cx="5608320" cy="12192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76200"/>
              <a:ext cx="5608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🌍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1667744" y="6858000"/>
            <a:ext cx="3913632" cy="731520"/>
            <a:chOff x="0" y="0"/>
            <a:chExt cx="5218176" cy="97536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218176" cy="975360"/>
            </a:xfrm>
            <a:custGeom>
              <a:avLst/>
              <a:gdLst/>
              <a:ahLst/>
              <a:cxnLst/>
              <a:rect r="r" b="b" t="t" l="l"/>
              <a:pathLst>
                <a:path h="9753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5218176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C39BD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Planet Regeneration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667744" y="7589520"/>
            <a:ext cx="3913632" cy="1188720"/>
            <a:chOff x="0" y="0"/>
            <a:chExt cx="5218176" cy="158496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218176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50" r="0" b="-1415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5218176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Nature heals itself: -5 Pollution globally. Cooperation rewarded.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631168" y="8778240"/>
            <a:ext cx="3986784" cy="689148"/>
            <a:chOff x="0" y="0"/>
            <a:chExt cx="5315712" cy="91886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315712" cy="918864"/>
            </a:xfrm>
            <a:custGeom>
              <a:avLst/>
              <a:gdLst/>
              <a:ahLst/>
              <a:cxnLst/>
              <a:rect r="r" b="b" t="t" l="l"/>
              <a:pathLst>
                <a:path h="91886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18864"/>
                  </a:lnTo>
                  <a:lnTo>
                    <a:pt x="0" y="918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282" r="0" b="-5916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5315712" cy="9664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i="true">
                  <a:solidFill>
                    <a:srgbClr val="C8A8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Players: No Pollution Damage for 1 Round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11451"/>
                  </a:lnTo>
                  <a:cubicBezTo>
                    <a:pt x="24417782" y="2220849"/>
                    <a:pt x="24410163" y="2228342"/>
                    <a:pt x="2440089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400890" y="2194560"/>
                  </a:lnTo>
                  <a:lnTo>
                    <a:pt x="24400890" y="2211451"/>
                  </a:lnTo>
                  <a:lnTo>
                    <a:pt x="24384000" y="2211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60071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82880"/>
            <a:ext cx="18288000" cy="1280160"/>
            <a:chOff x="0" y="0"/>
            <a:chExt cx="243840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4384000" cy="170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SACRED LAWS — RULES OF THE WORLD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907543"/>
            <a:ext cx="5511803" cy="3683003"/>
            <a:chOff x="0" y="0"/>
            <a:chExt cx="7349071" cy="4910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48640" y="2057400"/>
            <a:ext cx="53035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 b="true">
                <a:solidFill>
                  <a:srgbClr val="1A3D1F"/>
                </a:solidFill>
                <a:latin typeface="Georgia Bold"/>
                <a:ea typeface="Georgia Bold"/>
                <a:cs typeface="Georgia Bold"/>
                <a:sym typeface="Georgia Bold"/>
              </a:rPr>
              <a:t>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31520" y="2194560"/>
            <a:ext cx="4937760" cy="731520"/>
            <a:chOff x="0" y="0"/>
            <a:chExt cx="658368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58368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Four Personal Resources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520" y="3017520"/>
            <a:ext cx="4937760" cy="2286000"/>
            <a:chOff x="0" y="0"/>
            <a:chExt cx="6583680" cy="304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399" t="0" r="-939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583680" cy="308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player manages Capital, Resources, Well-being, and Eco Tokens. If any one drops to zero — that player is eliminated.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296663" y="1907543"/>
            <a:ext cx="5511803" cy="3683003"/>
            <a:chOff x="0" y="0"/>
            <a:chExt cx="7349071" cy="49106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400800" y="2057400"/>
            <a:ext cx="53035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 b="true">
                <a:solidFill>
                  <a:srgbClr val="1A3D1F"/>
                </a:solidFill>
                <a:latin typeface="Georgia Bold"/>
                <a:ea typeface="Georgia Bold"/>
                <a:cs typeface="Georgia Bold"/>
                <a:sym typeface="Georgia Bold"/>
              </a:rPr>
              <a:t>II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583680" y="2194560"/>
            <a:ext cx="4937760" cy="731520"/>
            <a:chOff x="0" y="0"/>
            <a:chExt cx="658368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58368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Global Eco Pool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83680" y="3017520"/>
            <a:ext cx="4937760" cy="2286000"/>
            <a:chOff x="0" y="0"/>
            <a:chExt cx="6583680" cy="3048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836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399" t="0" r="-939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583680" cy="308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Exactly 100 Global Eco Points are shared by all. If this pool reaches zero, everyone loses points simultaneously.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52960" y="1907543"/>
            <a:ext cx="5511803" cy="3683003"/>
            <a:chOff x="0" y="0"/>
            <a:chExt cx="7349071" cy="49106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357097" y="2057400"/>
            <a:ext cx="53035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 b="true">
                <a:solidFill>
                  <a:srgbClr val="1A3D1F"/>
                </a:solidFill>
                <a:latin typeface="Georgia Bold"/>
                <a:ea typeface="Georgia Bold"/>
                <a:cs typeface="Georgia Bold"/>
                <a:sym typeface="Georgia Bold"/>
              </a:rPr>
              <a:t>III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539977" y="2194560"/>
            <a:ext cx="4937760" cy="731520"/>
            <a:chOff x="0" y="0"/>
            <a:chExt cx="658368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658368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Build, Then Maintain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539977" y="3017520"/>
            <a:ext cx="4937760" cy="2286000"/>
            <a:chOff x="0" y="0"/>
            <a:chExt cx="6583680" cy="3048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399" t="0" r="-939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583680" cy="308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Assets cost Capital to build but pay dividends in Ecology, Well-being, or Resources over time. Invest with vision.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44503" y="5930903"/>
            <a:ext cx="5511803" cy="3683003"/>
            <a:chOff x="0" y="0"/>
            <a:chExt cx="7349071" cy="49106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548640" y="6080760"/>
            <a:ext cx="53035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 b="true">
                <a:solidFill>
                  <a:srgbClr val="1A3D1F"/>
                </a:solidFill>
                <a:latin typeface="Georgia Bold"/>
                <a:ea typeface="Georgia Bold"/>
                <a:cs typeface="Georgia Bold"/>
                <a:sym typeface="Georgia Bold"/>
              </a:rPr>
              <a:t>IV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31520" y="6217920"/>
            <a:ext cx="4937760" cy="731520"/>
            <a:chOff x="0" y="0"/>
            <a:chExt cx="658368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58368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Cascading Consequences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31520" y="7040880"/>
            <a:ext cx="4937760" cy="2286000"/>
            <a:chOff x="0" y="0"/>
            <a:chExt cx="6583680" cy="3048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399" t="0" r="-939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583680" cy="308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Destroy a forest → river health drops → fish die → food supply falls. One action triggers multiple consequences.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252955" y="5930903"/>
            <a:ext cx="5511803" cy="3683003"/>
            <a:chOff x="0" y="0"/>
            <a:chExt cx="7349071" cy="491067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2357092" y="6080760"/>
            <a:ext cx="53035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 b="true">
                <a:solidFill>
                  <a:srgbClr val="1A3D1F"/>
                </a:solidFill>
                <a:latin typeface="Georgia Bold"/>
                <a:ea typeface="Georgia Bold"/>
                <a:cs typeface="Georgia Bold"/>
                <a:sym typeface="Georgia Bold"/>
              </a:rPr>
              <a:t>VI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2539977" y="6078633"/>
            <a:ext cx="4937760" cy="731520"/>
            <a:chOff x="0" y="0"/>
            <a:chExt cx="658368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658368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Cooperation Wins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539972" y="7040880"/>
            <a:ext cx="4937760" cy="2286000"/>
            <a:chOff x="0" y="0"/>
            <a:chExt cx="6583680" cy="3048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5836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399" t="0" r="-939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583680" cy="308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Planet Regeneration rewards collective restraint. The highest victories come from a thriving shared world.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296658" y="5930903"/>
            <a:ext cx="5511803" cy="3683003"/>
            <a:chOff x="0" y="0"/>
            <a:chExt cx="7349071" cy="491067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6400795" y="6080760"/>
            <a:ext cx="53035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 b="true">
                <a:solidFill>
                  <a:srgbClr val="1A3D1F"/>
                </a:solidFill>
                <a:latin typeface="Georgia Bold"/>
                <a:ea typeface="Georgia Bold"/>
                <a:cs typeface="Georgia Bold"/>
                <a:sym typeface="Georgia Bold"/>
              </a:rPr>
              <a:t>V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583675" y="6217920"/>
            <a:ext cx="4937760" cy="731520"/>
            <a:chOff x="0" y="0"/>
            <a:chExt cx="658368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658368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Crisis Cards Are Binding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583675" y="7040880"/>
            <a:ext cx="4937760" cy="2286000"/>
            <a:chOff x="0" y="0"/>
            <a:chExt cx="6583680" cy="3048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399" t="0" r="-9399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583680" cy="308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8D9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a Crisis card is drawn, its effects are immediate and unavoidable. Only pre-built infrastructure can soften the blow.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aphicFrame>
        <p:nvGraphicFramePr>
          <p:cNvPr name="Object 17" id="17"/>
          <p:cNvGraphicFramePr/>
          <p:nvPr/>
        </p:nvGraphicFramePr>
        <p:xfrm>
          <a:off x="634498" y="634498"/>
          <a:ext cx="16230600" cy="7097624"/>
        </p:xfrm>
        <a:graphic>
          <a:graphicData uri="http://schemas.openxmlformats.org/presentationml/2006/ole">
            <p:oleObj imgW="19469100" imgH="10337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71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71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943" y="535943"/>
            <a:ext cx="17216123" cy="98555"/>
            <a:chOff x="0" y="0"/>
            <a:chExt cx="2295483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43" y="9661655"/>
            <a:ext cx="17216123" cy="98555"/>
            <a:chOff x="0" y="0"/>
            <a:chExt cx="2295483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7536"/>
            </a:xfrm>
            <a:custGeom>
              <a:avLst/>
              <a:gdLst/>
              <a:ahLst/>
              <a:cxnLst/>
              <a:rect r="r" b="b" t="t" l="l"/>
              <a:pathLst>
                <a:path h="9753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131320"/>
            </a:xfrm>
            <a:custGeom>
              <a:avLst/>
              <a:gdLst/>
              <a:ahLst/>
              <a:cxnLst/>
              <a:rect r="r" b="b" t="t" l="l"/>
              <a:pathLst>
                <a:path h="13132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4427"/>
                  </a:lnTo>
                  <a:cubicBezTo>
                    <a:pt x="22954743" y="123825"/>
                    <a:pt x="22947123" y="131318"/>
                    <a:pt x="229378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2937851" y="97536"/>
                  </a:lnTo>
                  <a:lnTo>
                    <a:pt x="22937851" y="114427"/>
                  </a:lnTo>
                  <a:lnTo>
                    <a:pt x="22920961" y="11442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535943"/>
            <a:ext cx="98555" cy="9151115"/>
            <a:chOff x="0" y="0"/>
            <a:chExt cx="131407" cy="12201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53511" y="535943"/>
            <a:ext cx="98555" cy="9151115"/>
            <a:chOff x="0" y="0"/>
            <a:chExt cx="131407" cy="12201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12167616"/>
            </a:xfrm>
            <a:custGeom>
              <a:avLst/>
              <a:gdLst/>
              <a:ahLst/>
              <a:cxnLst/>
              <a:rect r="r" b="b" t="t" l="l"/>
              <a:pathLst>
                <a:path h="12167616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67616"/>
                  </a:lnTo>
                  <a:lnTo>
                    <a:pt x="0" y="12167616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2201398"/>
            </a:xfrm>
            <a:custGeom>
              <a:avLst/>
              <a:gdLst/>
              <a:ahLst/>
              <a:cxnLst/>
              <a:rect r="r" b="b" t="t" l="l"/>
              <a:pathLst>
                <a:path h="1220139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2184507"/>
                  </a:lnTo>
                  <a:cubicBezTo>
                    <a:pt x="131318" y="12193905"/>
                    <a:pt x="123698" y="12201398"/>
                    <a:pt x="114427" y="12201398"/>
                  </a:cubicBezTo>
                  <a:lnTo>
                    <a:pt x="16891" y="12201398"/>
                  </a:lnTo>
                  <a:cubicBezTo>
                    <a:pt x="7493" y="12201398"/>
                    <a:pt x="0" y="12193777"/>
                    <a:pt x="0" y="12184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84507"/>
                  </a:lnTo>
                  <a:lnTo>
                    <a:pt x="16891" y="12184507"/>
                  </a:lnTo>
                  <a:lnTo>
                    <a:pt x="16891" y="12167615"/>
                  </a:lnTo>
                  <a:lnTo>
                    <a:pt x="114427" y="12167615"/>
                  </a:lnTo>
                  <a:lnTo>
                    <a:pt x="114427" y="12184507"/>
                  </a:lnTo>
                  <a:lnTo>
                    <a:pt x="97536" y="1218450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0" y="1097280"/>
            <a:ext cx="5486400" cy="2194560"/>
            <a:chOff x="0" y="0"/>
            <a:chExt cx="731520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47650"/>
              <a:ext cx="7315200" cy="3173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0"/>
                </a:lnSpc>
              </a:pPr>
              <a:r>
                <a:rPr lang="en-US" sz="1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🌍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3291840"/>
            <a:ext cx="14630400" cy="2743200"/>
            <a:chOff x="0" y="0"/>
            <a:chExt cx="19507200" cy="365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0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507200" cy="36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Earth Has Only</a:t>
              </a:r>
            </a:p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100 Points Left.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743200" y="6217920"/>
            <a:ext cx="12801600" cy="1645920"/>
            <a:chOff x="0" y="0"/>
            <a:chExt cx="17068800" cy="2194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706880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E8D9B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Every resource matters. Every choice matters.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E8D9B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Play wisely. The world is watching.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28800" y="8046720"/>
            <a:ext cx="14630400" cy="822960"/>
            <a:chOff x="0" y="0"/>
            <a:chExt cx="1950720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95072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spc="399">
                  <a:solidFill>
                    <a:srgbClr val="C4A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💰  Capital   ·   ⚙️  Resources   ·   😊  Well-being   ·   🏭  Pollution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DAHEHQw3x64</dc:identifier>
  <dcterms:modified xsi:type="dcterms:W3CDTF">2011-08-01T06:04:30Z</dcterms:modified>
  <cp:revision>1</cp:revision>
  <dc:title>🌿 +5</dc:title>
</cp:coreProperties>
</file>